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 Thank them for the time and say who you are. "Sweet Hand is a new site where people in Toronto and the GTA find Caribbean caterers by dish, by island and by area. It opens on Thursday the 26th of November. I have two asks at the end: sign up, and follow us on Facebook." The phone shows a caterer's page: a fictional caterer from our demo data, Auntie Bev's Kitchen.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people find them today. Most will say family, church, WhatsApp, Instagram. Agree: it works, but it stops at the people who already know them. "Everybody asks who made the pelau. Your black cake is gone before the speeches. But someone planning a wedding in Brampton next spring has no way to find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caterer listing. People pick a tradition, an area such as Scarborough or Brampton, and an occasion such as a wedding or a repast. Every tradition has its own name: Jamaican, Trinidadian and Tobagonian, Guyanese, Bajan, Haitian, Grenadian, Vincentian, Lucian and more. Ask them which they cook, and use their words. The caterers on screen are fictional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page from the top: photos, name, the traditions they cook from, their description in their own words, guest numbers and occasions, the menu, the areas they serve, reviews, and the "Send an enquiry" button. Reviews only come from customers whose enquiry got a reply and whose event has passed. People send an enquiry with their date and guest count; the caterer agrees the details directly. No money moves through Sweet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menu on the phone. Each dish has a name, an optional description, optional price guidance like "From $16 per person", and tags from a fixed list: vegetarian, vegan, gluten-free, dairy-free, halal, contains nuts, contains shellfish and spicy. Allergens are labels, so a parent with a nut allergy can see them straight away. Say clearly that the caterer chooses the tags and that Sweet Hand does not certify or inspect anyone's kitchen.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works on a phone: add dishes, reorder them, upload photos and pick your cover, and choose your traditions and the areas you serve. Changes save by themselves, and a checklist shows what is left. To send a page in you need a description, your traditions and areas, guest numbers, at least one occasion, 3 to 30 photos, 3 to 50 dishes and a current food handler certificate. Our team reviews every page within 3 business days. That review is not a kitchen inspection.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promises we can keep. Free to list, with no fees. You set the menu, the batches and the days. Your home address never shows: your page lists the areas you serve, like Ajax or Pickering, and your phone and email are only shared if you choose to share them with a customer in that conversation. The food handler certificate is required to be listed, but only you and the Sweet Hand team see it, and we never say a kitchen is certified.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offer word for word: "The first 100 caterers who register get a free photoshoot: 10 of their dishes, shot in our studio. In return we ask for a complete profile and a launch-day post." The shoot is about 90 minutes in our downtown studio; they bring the food and keep the photos for their own Instagram. How "first 100" is counted, the last day to book and how shoot days are booked are still to confirm with the founder. Do not promise a place. Say: "Register today; the first 100 registrations get the shoot, and I'll confirm your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on this slide. These are ideas we are exploring, not features and not promises. Delivery: at launch the caterer agrees pickup or delivery with each customer. We are exploring delivery through a courier partner for later; Sweet Hand will not run its own delivery fleet. Awards: we are exploring ideas like "GTA's Best Jerk Chicken"; there are no categories, rules or dates. If they ask when, say "We don't know yet. Follow the Facebook Page and you'll hear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Sweet Hand opens to the public on Thursday 26 November 2026, in Toronto and the GTA. That is right before Christmas: black cake, sorrel, pastelles, ponche de crème, garlic pork. Makers add their Christmas items to their menu and people send an enquiry for their date and quantity. Signing up now means being there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it with them now, on their phone. Scan the code or type sweethand.ca, then press "Join as a caterer". Until launch day that puts them on the launch list as a caterer: business name and email, then they confirm the link in the email, and we email them once, on launch day. From 26 November the same button opens caterer registration, shown on the phone: business name, their name, email, phone and a password. Founding caterers may be invited to build their page before launch; that is planned, not built, so don't promise it. Then log the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ask. Open the Facebook app with them and follow the Sweet Hand Page: scan the code, or search the link. That is where we announce the launch, the photoshoot days, the caterers who join and the ideas we are exploring, like delivery and awards. Note in the tracker whether they followed.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questions. Answer from the FAQ; if it is not there, or the FAQ says "to confirm", say "I'll check and come back to you" and write it down. Never promise delivery, awards, orders or a photoshoot place. Close with both asks: "Let's get you signed up: sweethand.ca, Join as a caterer. And can you follow Sweet Hand on Facebook while we're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pic>
        <p:nvPicPr>
          <p:cNvPr id="2" name="Image 0" descr="/home/user/sweet-hand/.cache/sales-kit-deck/logo-light.png">    </p:cNvPr>
          <p:cNvPicPr>
            <a:picLocks noChangeAspect="1"/>
          </p:cNvPicPr>
          <p:nvPr/>
        </p:nvPicPr>
        <p:blipFill>
          <a:blip r:embed="rId1"/>
          <a:stretch>
            <a:fillRect/>
          </a:stretch>
        </p:blipFill>
        <p:spPr>
          <a:xfrm>
            <a:off x="548640" y="6236208"/>
            <a:ext cx="1481328" cy="329184"/>
          </a:xfrm>
          <a:prstGeom prst="rect">
            <a:avLst/>
          </a:prstGeom>
        </p:spPr>
      </p:pic>
      <p:sp>
        <p:nvSpPr>
          <p:cNvPr id="3" name="Text 0"/>
          <p:cNvSpPr/>
          <p:nvPr/>
        </p:nvSpPr>
        <p:spPr>
          <a:xfrm>
            <a:off x="8259775" y="6217920"/>
            <a:ext cx="2743200" cy="365760"/>
          </a:xfrm>
          <a:prstGeom prst="rect">
            <a:avLst/>
          </a:prstGeom>
          <a:noFill/>
          <a:ln/>
        </p:spPr>
        <p:txBody>
          <a:bodyPr wrap="square" lIns="0" tIns="0" rIns="0" bIns="0" rtlCol="0" anchor="ctr"/>
          <a:lstStyle/>
          <a:p>
            <a:pPr algn="r" indent="0" marL="0">
              <a:buNone/>
            </a:pPr>
            <a:r>
              <a:rPr lang="en-US" sz="1100" dirty="0">
                <a:solidFill>
                  <a:srgbClr val="6B6863"/>
                </a:solidFill>
                <a:latin typeface="Arial" pitchFamily="34" charset="0"/>
                <a:ea typeface="Arial" pitchFamily="34" charset="-122"/>
                <a:cs typeface="Arial" pitchFamily="34" charset="-120"/>
              </a:rPr>
              <a:t>sweethand.ca</a:t>
            </a:r>
            <a:endParaRPr lang="en-US" sz="1100" dirty="0"/>
          </a:p>
        </p:txBody>
      </p:sp>
      <p:sp>
        <p:nvSpPr>
          <p:cNvPr id="4" name="Text 1"/>
          <p:cNvSpPr/>
          <p:nvPr>
            <p:ph idx="102" type="title" hasCustomPrompt="1"/>
          </p:nvPr>
        </p:nvSpPr>
        <p:spPr>
          <a:xfrm>
            <a:off x="548640" y="411480"/>
            <a:ext cx="11094415" cy="822960"/>
          </a:xfrm>
          <a:prstGeom prst="rect">
            <a:avLst/>
          </a:prstGeom>
          <a:noFill/>
          <a:ln/>
        </p:spPr>
        <p:txBody>
          <a:bodyPr wrap="square" rtlCol="0"/>
          <a:lstStyle>
            <a:lvl1pPr algn="l" indent="0" marL="0">
              <a:buNone/>
              <a:defRPr lang="en-US" sz="3600" b="1" dirty="0">
                <a:solidFill>
                  <a:srgbClr val="141312"/>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85855" y="6217920"/>
            <a:ext cx="457200" cy="365760"/>
          </a:xfrm>
          <a:prstGeom prst="rect">
            <a:avLst/>
          </a:prstGeom>
          <a:extLst>
            <a:ext uri="{C572A759-6A51-4108-AA02-DFA0A04FC94B}">
              <ma14:wrappingTextBoxFlag xmlns:ma14="http://schemas.microsoft.com/office/mac/drawingml/2011/main" val="0"/>
            </a:ext>
          </a:extLst>
        </p:spPr>
        <p:txBody>
          <a:bodyPr/>
          <a:lstStyle>
            <a:lvl1pPr>
              <a:defRPr sz="1100">
                <a:solidFill>
                  <a:srgbClr val="6B6863"/>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1312"/>
        </a:solidFill>
      </p:bgPr>
    </p:bg>
    <p:spTree>
      <p:nvGrpSpPr>
        <p:cNvPr id="1" name=""/>
        <p:cNvGrpSpPr/>
        <p:nvPr/>
      </p:nvGrpSpPr>
      <p:grpSpPr>
        <a:xfrm>
          <a:off x="0" y="0"/>
          <a:ext cx="0" cy="0"/>
          <a:chOff x="0" y="0"/>
          <a:chExt cx="0" cy="0"/>
        </a:xfrm>
      </p:grpSpPr>
      <p:pic>
        <p:nvPicPr>
          <p:cNvPr id="2" name="Image 0" descr="/home/user/sweet-hand/.cache/sales-kit-deck/logo-dark.png">    </p:cNvPr>
          <p:cNvPicPr>
            <a:picLocks noChangeAspect="1"/>
          </p:cNvPicPr>
          <p:nvPr/>
        </p:nvPicPr>
        <p:blipFill>
          <a:blip r:embed="rId1"/>
          <a:stretch>
            <a:fillRect/>
          </a:stretch>
        </p:blipFill>
        <p:spPr>
          <a:xfrm>
            <a:off x="548640" y="502920"/>
            <a:ext cx="2468880" cy="54864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217920"/>
            <a:ext cx="457200" cy="365760"/>
          </a:xfrm>
          <a:prstGeom prst="rect">
            <a:avLst/>
          </a:prstGeom>
          <a:extLst>
            <a:ext uri="{C572A759-6A51-4108-AA02-DFA0A04FC94B}">
              <ma14:wrappingTextBoxFlag xmlns:ma14="http://schemas.microsoft.com/office/mac/drawingml/2011/main" val="0"/>
            </a:ext>
          </a:extLst>
        </p:spPr>
        <p:txBody>
          <a:bodyPr/>
          <a:lstStyle>
            <a:lvl1pPr>
              <a:defRPr sz="1100">
                <a:solidFill>
                  <a:srgbClr val="6B6863"/>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920240"/>
            <a:ext cx="7772400" cy="1005840"/>
          </a:xfrm>
          <a:prstGeom prst="rect">
            <a:avLst/>
          </a:prstGeom>
          <a:noFill/>
          <a:ln/>
        </p:spPr>
        <p:txBody>
          <a:bodyPr wrap="square" lIns="0" tIns="0" rIns="0" bIns="0" rtlCol="0" anchor="t"/>
          <a:lstStyle/>
          <a:p>
            <a:pPr indent="0" marL="0">
              <a:buNone/>
            </a:pPr>
            <a:r>
              <a:rPr lang="en-US" sz="5400" b="1" dirty="0">
                <a:solidFill>
                  <a:srgbClr val="FFFFFF"/>
                </a:solidFill>
                <a:latin typeface="Arial" pitchFamily="34" charset="0"/>
                <a:ea typeface="Arial" pitchFamily="34" charset="-122"/>
                <a:cs typeface="Arial" pitchFamily="34" charset="-120"/>
              </a:rPr>
              <a:t>You have a sweet hand.</a:t>
            </a:r>
            <a:endParaRPr lang="en-US" sz="5400" dirty="0"/>
          </a:p>
        </p:txBody>
      </p:sp>
      <p:sp>
        <p:nvSpPr>
          <p:cNvPr id="3" name="Text 1"/>
          <p:cNvSpPr txBox="1"/>
          <p:nvPr/>
        </p:nvSpPr>
        <p:spPr>
          <a:xfrm>
            <a:off x="548640" y="2880360"/>
            <a:ext cx="7772400" cy="914400"/>
          </a:xfrm>
          <a:prstGeom prst="rect">
            <a:avLst/>
          </a:prstGeom>
          <a:noFill/>
          <a:ln/>
        </p:spPr>
        <p:txBody>
          <a:bodyPr wrap="square" lIns="0" tIns="0" rIns="0" bIns="0" rtlCol="0" anchor="t"/>
          <a:lstStyle/>
          <a:p>
            <a:pPr indent="0" marL="0">
              <a:buNone/>
            </a:pPr>
            <a:r>
              <a:rPr lang="en-US" sz="5400" b="1" dirty="0">
                <a:solidFill>
                  <a:srgbClr val="B8B2A8"/>
                </a:solidFill>
                <a:latin typeface="Arial" pitchFamily="34" charset="0"/>
                <a:ea typeface="Arial" pitchFamily="34" charset="-122"/>
                <a:cs typeface="Arial" pitchFamily="34" charset="-120"/>
              </a:rPr>
              <a:t>Let Toronto find it.</a:t>
            </a:r>
            <a:endParaRPr lang="en-US" sz="5400" dirty="0"/>
          </a:p>
        </p:txBody>
      </p:sp>
      <p:sp>
        <p:nvSpPr>
          <p:cNvPr id="4" name="Text 2"/>
          <p:cNvSpPr txBox="1"/>
          <p:nvPr/>
        </p:nvSpPr>
        <p:spPr>
          <a:xfrm>
            <a:off x="548640" y="4206240"/>
            <a:ext cx="6583680" cy="822960"/>
          </a:xfrm>
          <a:prstGeom prst="rect">
            <a:avLst/>
          </a:prstGeom>
          <a:noFill/>
          <a:ln/>
        </p:spPr>
        <p:txBody>
          <a:bodyPr wrap="square" lIns="0" tIns="0" rIns="0" bIns="0" rtlCol="0" anchor="t"/>
          <a:lstStyle/>
          <a:p>
            <a:pPr indent="0" marL="0">
              <a:buNone/>
            </a:pPr>
            <a:r>
              <a:rPr lang="en-US" sz="1800" dirty="0">
                <a:solidFill>
                  <a:srgbClr val="E2DED7"/>
                </a:solidFill>
                <a:latin typeface="Arial" pitchFamily="34" charset="0"/>
                <a:ea typeface="Arial" pitchFamily="34" charset="-122"/>
                <a:cs typeface="Arial" pitchFamily="34" charset="-120"/>
              </a:rPr>
              <a:t>Sweet Hand for Caribbean caterers and home cooks in Toronto and the GTA. Opens Thursday 26 November 2026.</a:t>
            </a:r>
            <a:endParaRPr lang="en-US" sz="1800" dirty="0"/>
          </a:p>
        </p:txBody>
      </p:sp>
      <p:sp>
        <p:nvSpPr>
          <p:cNvPr id="5" name="Shape 3"/>
          <p:cNvSpPr/>
          <p:nvPr/>
        </p:nvSpPr>
        <p:spPr>
          <a:xfrm>
            <a:off x="8842248" y="612648"/>
            <a:ext cx="2681489" cy="5632704"/>
          </a:xfrm>
          <a:prstGeom prst="roundRect">
            <a:avLst>
              <a:gd name="adj" fmla="val 7502"/>
            </a:avLst>
          </a:prstGeom>
          <a:solidFill>
            <a:srgbClr val="141312"/>
          </a:solidFill>
          <a:ln w="12700">
            <a:solidFill>
              <a:srgbClr val="141312"/>
            </a:solidFill>
            <a:prstDash val="solid"/>
          </a:ln>
          <a:effectLst>
            <a:outerShdw sx="100000" sy="100000" kx="0" ky="0" algn="bl" rotWithShape="0" blurRad="101600" dist="38100" dir="5400000">
              <a:srgbClr val="000000">
                <a:alpha val="25000"/>
              </a:srgbClr>
            </a:outerShdw>
          </a:effectLst>
        </p:spPr>
      </p:sp>
      <p:pic>
        <p:nvPicPr>
          <p:cNvPr id="6" name="Image 0" descr="Screenshot: caterer profile jerk phone">    </p:cNvPr>
          <p:cNvPicPr>
            <a:picLocks noChangeAspect="1"/>
          </p:cNvPicPr>
          <p:nvPr/>
        </p:nvPicPr>
        <p:blipFill>
          <a:blip r:embed="rId1"/>
          <a:stretch>
            <a:fillRect/>
          </a:stretch>
        </p:blipFill>
        <p:spPr>
          <a:xfrm>
            <a:off x="8915400" y="685800"/>
            <a:ext cx="2535185" cy="5486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600" b="1" dirty="0">
                <a:solidFill>
                  <a:srgbClr val="141312"/>
                </a:solidFill>
                <a:latin typeface="Arial" pitchFamily="34" charset="0"/>
                <a:ea typeface="Arial" pitchFamily="34" charset="-122"/>
                <a:cs typeface="Arial" pitchFamily="34" charset="-120"/>
              </a:rPr>
              <a:t>Right now, people find you by word of mouth</a:t>
            </a:r>
            <a:endParaRPr lang="en-US" sz="3600" dirty="0"/>
          </a:p>
        </p:txBody>
      </p:sp>
      <p:sp>
        <p:nvSpPr>
          <p:cNvPr id="3" name="Shape 1"/>
          <p:cNvSpPr/>
          <p:nvPr/>
        </p:nvSpPr>
        <p:spPr>
          <a:xfrm>
            <a:off x="548640" y="1828800"/>
            <a:ext cx="914400" cy="914400"/>
          </a:xfrm>
          <a:prstGeom prst="ellipse">
            <a:avLst/>
          </a:prstGeom>
          <a:solidFill>
            <a:srgbClr val="141312"/>
          </a:solidFill>
          <a:ln w="12700">
            <a:solidFill>
              <a:srgbClr val="FFFFFF"/>
            </a:solidFill>
            <a:prstDash val="solid"/>
          </a:ln>
        </p:spPr>
      </p:sp>
      <p:sp>
        <p:nvSpPr>
          <p:cNvPr id="4" name="Text 2"/>
          <p:cNvSpPr txBox="1"/>
          <p:nvPr/>
        </p:nvSpPr>
        <p:spPr>
          <a:xfrm>
            <a:off x="548640" y="1828800"/>
            <a:ext cx="914400" cy="91440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1</a:t>
            </a:r>
            <a:endParaRPr lang="en-US" sz="2800" dirty="0"/>
          </a:p>
        </p:txBody>
      </p:sp>
      <p:sp>
        <p:nvSpPr>
          <p:cNvPr id="5" name="Text 3"/>
          <p:cNvSpPr txBox="1"/>
          <p:nvPr/>
        </p:nvSpPr>
        <p:spPr>
          <a:xfrm>
            <a:off x="548640" y="3017520"/>
            <a:ext cx="3383280" cy="548640"/>
          </a:xfrm>
          <a:prstGeom prst="rect">
            <a:avLst/>
          </a:prstGeom>
          <a:noFill/>
          <a:ln/>
        </p:spPr>
        <p:txBody>
          <a:bodyPr wrap="square" lIns="0" tIns="0" rIns="0" bIns="0" rtlCol="0" anchor="t"/>
          <a:lstStyle/>
          <a:p>
            <a:pPr indent="0" marL="0">
              <a:buNone/>
            </a:pPr>
            <a:r>
              <a:rPr lang="en-US" sz="2600" b="1" dirty="0">
                <a:solidFill>
                  <a:srgbClr val="141312"/>
                </a:solidFill>
                <a:latin typeface="Arial" pitchFamily="34" charset="0"/>
                <a:ea typeface="Arial" pitchFamily="34" charset="-122"/>
                <a:cs typeface="Arial" pitchFamily="34" charset="-120"/>
              </a:rPr>
              <a:t>A cousin</a:t>
            </a:r>
            <a:endParaRPr lang="en-US" sz="2600" dirty="0"/>
          </a:p>
        </p:txBody>
      </p:sp>
      <p:sp>
        <p:nvSpPr>
          <p:cNvPr id="6" name="Text 4"/>
          <p:cNvSpPr txBox="1"/>
          <p:nvPr/>
        </p:nvSpPr>
        <p:spPr>
          <a:xfrm>
            <a:off x="548640" y="3566160"/>
            <a:ext cx="3383280" cy="548640"/>
          </a:xfrm>
          <a:prstGeom prst="rect">
            <a:avLst/>
          </a:prstGeom>
          <a:noFill/>
          <a:ln/>
        </p:spPr>
        <p:txBody>
          <a:bodyPr wrap="square" lIns="0" tIns="0" rIns="0" bIns="0" rtlCol="0" anchor="t"/>
          <a:lstStyle/>
          <a:p>
            <a:pPr indent="0" marL="0">
              <a:buNone/>
            </a:pPr>
            <a:r>
              <a:rPr lang="en-US" sz="1600" dirty="0">
                <a:solidFill>
                  <a:srgbClr val="6B6863"/>
                </a:solidFill>
                <a:latin typeface="Arial" pitchFamily="34" charset="0"/>
                <a:ea typeface="Arial" pitchFamily="34" charset="-122"/>
                <a:cs typeface="Arial" pitchFamily="34" charset="-120"/>
              </a:rPr>
              <a:t>who tells a friend</a:t>
            </a:r>
            <a:endParaRPr lang="en-US" sz="1600" dirty="0"/>
          </a:p>
        </p:txBody>
      </p:sp>
      <p:sp>
        <p:nvSpPr>
          <p:cNvPr id="7" name="Shape 5"/>
          <p:cNvSpPr/>
          <p:nvPr/>
        </p:nvSpPr>
        <p:spPr>
          <a:xfrm>
            <a:off x="4297680" y="1828800"/>
            <a:ext cx="914400" cy="914400"/>
          </a:xfrm>
          <a:prstGeom prst="ellipse">
            <a:avLst/>
          </a:prstGeom>
          <a:solidFill>
            <a:srgbClr val="141312"/>
          </a:solidFill>
          <a:ln w="12700">
            <a:solidFill>
              <a:srgbClr val="FFFFFF"/>
            </a:solidFill>
            <a:prstDash val="solid"/>
          </a:ln>
        </p:spPr>
      </p:sp>
      <p:sp>
        <p:nvSpPr>
          <p:cNvPr id="8" name="Text 6"/>
          <p:cNvSpPr txBox="1"/>
          <p:nvPr/>
        </p:nvSpPr>
        <p:spPr>
          <a:xfrm>
            <a:off x="4297680" y="1828800"/>
            <a:ext cx="914400" cy="91440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2</a:t>
            </a:r>
            <a:endParaRPr lang="en-US" sz="2800" dirty="0"/>
          </a:p>
        </p:txBody>
      </p:sp>
      <p:sp>
        <p:nvSpPr>
          <p:cNvPr id="9" name="Text 7"/>
          <p:cNvSpPr txBox="1"/>
          <p:nvPr/>
        </p:nvSpPr>
        <p:spPr>
          <a:xfrm>
            <a:off x="4297680" y="3017520"/>
            <a:ext cx="3383280" cy="548640"/>
          </a:xfrm>
          <a:prstGeom prst="rect">
            <a:avLst/>
          </a:prstGeom>
          <a:noFill/>
          <a:ln/>
        </p:spPr>
        <p:txBody>
          <a:bodyPr wrap="square" lIns="0" tIns="0" rIns="0" bIns="0" rtlCol="0" anchor="t"/>
          <a:lstStyle/>
          <a:p>
            <a:pPr indent="0" marL="0">
              <a:buNone/>
            </a:pPr>
            <a:r>
              <a:rPr lang="en-US" sz="2600" b="1" dirty="0">
                <a:solidFill>
                  <a:srgbClr val="141312"/>
                </a:solidFill>
                <a:latin typeface="Arial" pitchFamily="34" charset="0"/>
                <a:ea typeface="Arial" pitchFamily="34" charset="-122"/>
                <a:cs typeface="Arial" pitchFamily="34" charset="-120"/>
              </a:rPr>
              <a:t>A church group</a:t>
            </a:r>
            <a:endParaRPr lang="en-US" sz="2600" dirty="0"/>
          </a:p>
        </p:txBody>
      </p:sp>
      <p:sp>
        <p:nvSpPr>
          <p:cNvPr id="10" name="Text 8"/>
          <p:cNvSpPr txBox="1"/>
          <p:nvPr/>
        </p:nvSpPr>
        <p:spPr>
          <a:xfrm>
            <a:off x="4297680" y="3566160"/>
            <a:ext cx="3383280" cy="548640"/>
          </a:xfrm>
          <a:prstGeom prst="rect">
            <a:avLst/>
          </a:prstGeom>
          <a:noFill/>
          <a:ln/>
        </p:spPr>
        <p:txBody>
          <a:bodyPr wrap="square" lIns="0" tIns="0" rIns="0" bIns="0" rtlCol="0" anchor="t"/>
          <a:lstStyle/>
          <a:p>
            <a:pPr indent="0" marL="0">
              <a:buNone/>
            </a:pPr>
            <a:r>
              <a:rPr lang="en-US" sz="1600" dirty="0">
                <a:solidFill>
                  <a:srgbClr val="6B6863"/>
                </a:solidFill>
                <a:latin typeface="Arial" pitchFamily="34" charset="0"/>
                <a:ea typeface="Arial" pitchFamily="34" charset="-122"/>
                <a:cs typeface="Arial" pitchFamily="34" charset="-120"/>
              </a:rPr>
              <a:t>and the next christening</a:t>
            </a:r>
            <a:endParaRPr lang="en-US" sz="1600" dirty="0"/>
          </a:p>
        </p:txBody>
      </p:sp>
      <p:sp>
        <p:nvSpPr>
          <p:cNvPr id="11" name="Shape 9"/>
          <p:cNvSpPr/>
          <p:nvPr/>
        </p:nvSpPr>
        <p:spPr>
          <a:xfrm>
            <a:off x="8046720" y="1828800"/>
            <a:ext cx="914400" cy="914400"/>
          </a:xfrm>
          <a:prstGeom prst="ellipse">
            <a:avLst/>
          </a:prstGeom>
          <a:solidFill>
            <a:srgbClr val="B5381F"/>
          </a:solidFill>
          <a:ln w="12700">
            <a:solidFill>
              <a:srgbClr val="FFFFFF"/>
            </a:solidFill>
            <a:prstDash val="solid"/>
          </a:ln>
        </p:spPr>
      </p:sp>
      <p:sp>
        <p:nvSpPr>
          <p:cNvPr id="12" name="Text 10"/>
          <p:cNvSpPr txBox="1"/>
          <p:nvPr/>
        </p:nvSpPr>
        <p:spPr>
          <a:xfrm>
            <a:off x="8046720" y="1828800"/>
            <a:ext cx="914400" cy="91440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3</a:t>
            </a:r>
            <a:endParaRPr lang="en-US" sz="2800" dirty="0"/>
          </a:p>
        </p:txBody>
      </p:sp>
      <p:sp>
        <p:nvSpPr>
          <p:cNvPr id="13" name="Text 11"/>
          <p:cNvSpPr txBox="1"/>
          <p:nvPr/>
        </p:nvSpPr>
        <p:spPr>
          <a:xfrm>
            <a:off x="8046720" y="3017520"/>
            <a:ext cx="3383280" cy="548640"/>
          </a:xfrm>
          <a:prstGeom prst="rect">
            <a:avLst/>
          </a:prstGeom>
          <a:noFill/>
          <a:ln/>
        </p:spPr>
        <p:txBody>
          <a:bodyPr wrap="square" lIns="0" tIns="0" rIns="0" bIns="0" rtlCol="0" anchor="t"/>
          <a:lstStyle/>
          <a:p>
            <a:pPr indent="0" marL="0">
              <a:buNone/>
            </a:pPr>
            <a:r>
              <a:rPr lang="en-US" sz="2600" b="1" dirty="0">
                <a:solidFill>
                  <a:srgbClr val="141312"/>
                </a:solidFill>
                <a:latin typeface="Arial" pitchFamily="34" charset="0"/>
                <a:ea typeface="Arial" pitchFamily="34" charset="-122"/>
                <a:cs typeface="Arial" pitchFamily="34" charset="-120"/>
              </a:rPr>
              <a:t>A WhatsApp chat</a:t>
            </a:r>
            <a:endParaRPr lang="en-US" sz="2600" dirty="0"/>
          </a:p>
        </p:txBody>
      </p:sp>
      <p:sp>
        <p:nvSpPr>
          <p:cNvPr id="14" name="Text 12"/>
          <p:cNvSpPr txBox="1"/>
          <p:nvPr/>
        </p:nvSpPr>
        <p:spPr>
          <a:xfrm>
            <a:off x="8046720" y="3566160"/>
            <a:ext cx="3383280" cy="548640"/>
          </a:xfrm>
          <a:prstGeom prst="rect">
            <a:avLst/>
          </a:prstGeom>
          <a:noFill/>
          <a:ln/>
        </p:spPr>
        <p:txBody>
          <a:bodyPr wrap="square" lIns="0" tIns="0" rIns="0" bIns="0" rtlCol="0" anchor="t"/>
          <a:lstStyle/>
          <a:p>
            <a:pPr indent="0" marL="0">
              <a:buNone/>
            </a:pPr>
            <a:r>
              <a:rPr lang="en-US" sz="1600" dirty="0">
                <a:solidFill>
                  <a:srgbClr val="6B6863"/>
                </a:solidFill>
                <a:latin typeface="Arial" pitchFamily="34" charset="0"/>
                <a:ea typeface="Arial" pitchFamily="34" charset="-122"/>
                <a:cs typeface="Arial" pitchFamily="34" charset="-120"/>
              </a:rPr>
              <a:t>that scrolls away by Sunday</a:t>
            </a:r>
            <a:endParaRPr lang="en-US" sz="1600" dirty="0"/>
          </a:p>
        </p:txBody>
      </p:sp>
      <p:sp>
        <p:nvSpPr>
          <p:cNvPr id="15" name="Text 13"/>
          <p:cNvSpPr txBox="1"/>
          <p:nvPr/>
        </p:nvSpPr>
        <p:spPr>
          <a:xfrm>
            <a:off x="548640" y="4572000"/>
            <a:ext cx="10515600" cy="914400"/>
          </a:xfrm>
          <a:prstGeom prst="rect">
            <a:avLst/>
          </a:prstGeom>
          <a:noFill/>
          <a:ln/>
        </p:spPr>
        <p:txBody>
          <a:bodyPr wrap="square" lIns="0" tIns="0" rIns="0" bIns="0" rtlCol="0" anchor="t"/>
          <a:lstStyle/>
          <a:p>
            <a:pPr indent="0" marL="0">
              <a:buNone/>
            </a:pPr>
            <a:r>
              <a:rPr lang="en-US" sz="1800" dirty="0">
                <a:solidFill>
                  <a:srgbClr val="4D4B48"/>
                </a:solidFill>
                <a:latin typeface="Arial" pitchFamily="34" charset="0"/>
                <a:ea typeface="Arial" pitchFamily="34" charset="-122"/>
                <a:cs typeface="Arial" pitchFamily="34" charset="-120"/>
              </a:rPr>
              <a:t>Everybody asks who made the pelau. The black cake is gone before the speeches. But the people planning the next wedding have no way to find you.</a:t>
            </a:r>
            <a:endParaRPr lang="en-US" sz="1800" dirty="0"/>
          </a:p>
        </p:txBody>
      </p:sp>
      <p:sp>
        <p:nvSpPr>
          <p:cNvPr id="25" name="Slide Number Placeholder 0"/>
          <p:cNvSpPr>
            <a:spLocks noGrp="1"/>
          </p:cNvSpPr>
          <p:nvPr>
            <p:ph type="sldNum" sz="quarter" idx="4294967295"/>
          </p:nvPr>
        </p:nvSpPr>
        <p:spPr>
          <a:xfrm>
            <a:off x="11185855" y="6217920"/>
            <a:ext cx="457200" cy="365760"/>
          </a:xfrm>
          <a:prstGeom prst="rect">
            <a:avLst/>
          </a:prstGeom>
          <a:extLst>
            <a:ext uri="{C572A759-6A51-4108-AA02-DFA0A04FC94B}">
              <ma14:wrappingTextBoxFlag xmlns:ma14="http://schemas.microsoft.com/office/mac/drawingml/2011/main" val="0"/>
            </a:ext>
          </a:extLst>
        </p:spPr>
        <p:txBody>
          <a:bodyPr/>
          <a:lstStyle>
            <a:lvl1pPr>
              <a:defRPr sz="1100">
                <a:solidFill>
                  <a:srgbClr val="6B6863"/>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600" b="1" dirty="0">
                <a:solidFill>
                  <a:srgbClr val="141312"/>
                </a:solidFill>
                <a:latin typeface="Arial" pitchFamily="34" charset="0"/>
                <a:ea typeface="Arial" pitchFamily="34" charset="-122"/>
                <a:cs typeface="Arial" pitchFamily="34" charset="-120"/>
              </a:rPr>
              <a:t>One place to find Caribbean caterers</a:t>
            </a:r>
            <a:endParaRPr lang="en-US" sz="3600" dirty="0"/>
          </a:p>
        </p:txBody>
      </p:sp>
      <p:sp>
        <p:nvSpPr>
          <p:cNvPr id="3" name="Shape 1"/>
          <p:cNvSpPr/>
          <p:nvPr/>
        </p:nvSpPr>
        <p:spPr>
          <a:xfrm>
            <a:off x="548640" y="1463040"/>
            <a:ext cx="6949440" cy="4343400"/>
          </a:xfrm>
          <a:prstGeom prst="rect">
            <a:avLst/>
          </a:prstGeom>
          <a:solidFill>
            <a:srgbClr val="FFFFFF"/>
          </a:solidFill>
          <a:ln w="12700">
            <a:solidFill>
              <a:srgbClr val="E2DED7"/>
            </a:solidFill>
            <a:prstDash val="solid"/>
          </a:ln>
          <a:effectLst>
            <a:outerShdw sx="100000" sy="100000" kx="0" ky="0" algn="bl" rotWithShape="0" blurRad="127000" dist="38100" dir="5400000">
              <a:srgbClr val="000000">
                <a:alpha val="18000"/>
              </a:srgbClr>
            </a:outerShdw>
          </a:effectLst>
        </p:spPr>
      </p:sp>
      <p:pic>
        <p:nvPicPr>
          <p:cNvPr id="4" name="Image 0" descr="Screenshot: caterers listing desktop">    </p:cNvPr>
          <p:cNvPicPr>
            <a:picLocks noChangeAspect="1"/>
          </p:cNvPicPr>
          <p:nvPr/>
        </p:nvPicPr>
        <p:blipFill>
          <a:blip r:embed="rId1"/>
          <a:srcRect l="0" r="0" t="0" b="0"/>
          <a:stretch/>
        </p:blipFill>
        <p:spPr>
          <a:xfrm>
            <a:off x="548640" y="1463040"/>
            <a:ext cx="6949440" cy="4343400"/>
          </a:xfrm>
          <a:prstGeom prst="rect">
            <a:avLst/>
          </a:prstGeom>
        </p:spPr>
      </p:pic>
      <p:sp>
        <p:nvSpPr>
          <p:cNvPr id="5" name="Text 2"/>
          <p:cNvSpPr txBox="1"/>
          <p:nvPr/>
        </p:nvSpPr>
        <p:spPr>
          <a:xfrm>
            <a:off x="7955280" y="1463040"/>
            <a:ext cx="3657600" cy="914400"/>
          </a:xfrm>
          <a:prstGeom prst="rect">
            <a:avLst/>
          </a:prstGeom>
          <a:noFill/>
          <a:ln/>
        </p:spPr>
        <p:txBody>
          <a:bodyPr wrap="square" lIns="0" tIns="0" rIns="0" bIns="0" rtlCol="0" anchor="t"/>
          <a:lstStyle/>
          <a:p>
            <a:pPr indent="0" marL="0">
              <a:buNone/>
            </a:pPr>
            <a:r>
              <a:rPr lang="en-US" sz="1800" dirty="0">
                <a:solidFill>
                  <a:srgbClr val="141312"/>
                </a:solidFill>
                <a:latin typeface="Arial" pitchFamily="34" charset="0"/>
                <a:ea typeface="Arial" pitchFamily="34" charset="-122"/>
                <a:cs typeface="Arial" pitchFamily="34" charset="-120"/>
              </a:rPr>
              <a:t>People search by tradition, by area and by occasion.</a:t>
            </a:r>
            <a:endParaRPr lang="en-US" sz="1800" dirty="0"/>
          </a:p>
        </p:txBody>
      </p:sp>
      <p:sp>
        <p:nvSpPr>
          <p:cNvPr id="6" name="Text 3"/>
          <p:cNvSpPr txBox="1"/>
          <p:nvPr/>
        </p:nvSpPr>
        <p:spPr>
          <a:xfrm>
            <a:off x="7955280" y="2514600"/>
            <a:ext cx="3657600" cy="365760"/>
          </a:xfrm>
          <a:prstGeom prst="rect">
            <a:avLst/>
          </a:prstGeom>
          <a:noFill/>
          <a:ln/>
        </p:spPr>
        <p:txBody>
          <a:bodyPr wrap="square" lIns="0" tIns="0" rIns="0" bIns="0" rtlCol="0" anchor="t"/>
          <a:lstStyle/>
          <a:p>
            <a:pPr indent="0" marL="0">
              <a:buNone/>
            </a:pPr>
            <a:r>
              <a:rPr lang="en-US" sz="1600" b="1" dirty="0">
                <a:solidFill>
                  <a:srgbClr val="B5381F"/>
                </a:solidFill>
                <a:latin typeface="Arial" pitchFamily="34" charset="0"/>
                <a:ea typeface="Arial" pitchFamily="34" charset="-122"/>
                <a:cs typeface="Arial" pitchFamily="34" charset="-120"/>
              </a:rPr>
              <a:t>Jamaican</a:t>
            </a:r>
            <a:endParaRPr lang="en-US" sz="1600" dirty="0"/>
          </a:p>
        </p:txBody>
      </p:sp>
      <p:sp>
        <p:nvSpPr>
          <p:cNvPr id="7" name="Text 4"/>
          <p:cNvSpPr txBox="1"/>
          <p:nvPr/>
        </p:nvSpPr>
        <p:spPr>
          <a:xfrm>
            <a:off x="7955280" y="2898648"/>
            <a:ext cx="3657600" cy="365760"/>
          </a:xfrm>
          <a:prstGeom prst="rect">
            <a:avLst/>
          </a:prstGeom>
          <a:noFill/>
          <a:ln/>
        </p:spPr>
        <p:txBody>
          <a:bodyPr wrap="square" lIns="0" tIns="0" rIns="0" bIns="0" rtlCol="0" anchor="t"/>
          <a:lstStyle/>
          <a:p>
            <a:pPr indent="0" marL="0">
              <a:buNone/>
            </a:pPr>
            <a:r>
              <a:rPr lang="en-US" sz="1600" dirty="0">
                <a:solidFill>
                  <a:srgbClr val="4D4B48"/>
                </a:solidFill>
                <a:latin typeface="Arial" pitchFamily="34" charset="0"/>
                <a:ea typeface="Arial" pitchFamily="34" charset="-122"/>
                <a:cs typeface="Arial" pitchFamily="34" charset="-120"/>
              </a:rPr>
              <a:t>Trinidadian and Tobagonian</a:t>
            </a:r>
            <a:endParaRPr lang="en-US" sz="1600" dirty="0"/>
          </a:p>
        </p:txBody>
      </p:sp>
      <p:sp>
        <p:nvSpPr>
          <p:cNvPr id="8" name="Text 5"/>
          <p:cNvSpPr txBox="1"/>
          <p:nvPr/>
        </p:nvSpPr>
        <p:spPr>
          <a:xfrm>
            <a:off x="7955280" y="3282696"/>
            <a:ext cx="3657600" cy="365760"/>
          </a:xfrm>
          <a:prstGeom prst="rect">
            <a:avLst/>
          </a:prstGeom>
          <a:noFill/>
          <a:ln/>
        </p:spPr>
        <p:txBody>
          <a:bodyPr wrap="square" lIns="0" tIns="0" rIns="0" bIns="0" rtlCol="0" anchor="t"/>
          <a:lstStyle/>
          <a:p>
            <a:pPr indent="0" marL="0">
              <a:buNone/>
            </a:pPr>
            <a:r>
              <a:rPr lang="en-US" sz="1600" dirty="0">
                <a:solidFill>
                  <a:srgbClr val="4D4B48"/>
                </a:solidFill>
                <a:latin typeface="Arial" pitchFamily="34" charset="0"/>
                <a:ea typeface="Arial" pitchFamily="34" charset="-122"/>
                <a:cs typeface="Arial" pitchFamily="34" charset="-120"/>
              </a:rPr>
              <a:t>Guyanese</a:t>
            </a:r>
            <a:endParaRPr lang="en-US" sz="1600" dirty="0"/>
          </a:p>
        </p:txBody>
      </p:sp>
      <p:sp>
        <p:nvSpPr>
          <p:cNvPr id="9" name="Text 6"/>
          <p:cNvSpPr txBox="1"/>
          <p:nvPr/>
        </p:nvSpPr>
        <p:spPr>
          <a:xfrm>
            <a:off x="7955280" y="3666744"/>
            <a:ext cx="3657600" cy="365760"/>
          </a:xfrm>
          <a:prstGeom prst="rect">
            <a:avLst/>
          </a:prstGeom>
          <a:noFill/>
          <a:ln/>
        </p:spPr>
        <p:txBody>
          <a:bodyPr wrap="square" lIns="0" tIns="0" rIns="0" bIns="0" rtlCol="0" anchor="t"/>
          <a:lstStyle/>
          <a:p>
            <a:pPr indent="0" marL="0">
              <a:buNone/>
            </a:pPr>
            <a:r>
              <a:rPr lang="en-US" sz="1600" dirty="0">
                <a:solidFill>
                  <a:srgbClr val="4D4B48"/>
                </a:solidFill>
                <a:latin typeface="Arial" pitchFamily="34" charset="0"/>
                <a:ea typeface="Arial" pitchFamily="34" charset="-122"/>
                <a:cs typeface="Arial" pitchFamily="34" charset="-120"/>
              </a:rPr>
              <a:t>Barbadian (Bajan)</a:t>
            </a:r>
            <a:endParaRPr lang="en-US" sz="1600" dirty="0"/>
          </a:p>
        </p:txBody>
      </p:sp>
      <p:sp>
        <p:nvSpPr>
          <p:cNvPr id="10" name="Text 7"/>
          <p:cNvSpPr txBox="1"/>
          <p:nvPr/>
        </p:nvSpPr>
        <p:spPr>
          <a:xfrm>
            <a:off x="7955280" y="4050792"/>
            <a:ext cx="3657600" cy="365760"/>
          </a:xfrm>
          <a:prstGeom prst="rect">
            <a:avLst/>
          </a:prstGeom>
          <a:noFill/>
          <a:ln/>
        </p:spPr>
        <p:txBody>
          <a:bodyPr wrap="square" lIns="0" tIns="0" rIns="0" bIns="0" rtlCol="0" anchor="t"/>
          <a:lstStyle/>
          <a:p>
            <a:pPr indent="0" marL="0">
              <a:buNone/>
            </a:pPr>
            <a:r>
              <a:rPr lang="en-US" sz="1600" dirty="0">
                <a:solidFill>
                  <a:srgbClr val="4D4B48"/>
                </a:solidFill>
                <a:latin typeface="Arial" pitchFamily="34" charset="0"/>
                <a:ea typeface="Arial" pitchFamily="34" charset="-122"/>
                <a:cs typeface="Arial" pitchFamily="34" charset="-120"/>
              </a:rPr>
              <a:t>Haitian</a:t>
            </a:r>
            <a:endParaRPr lang="en-US" sz="1600" dirty="0"/>
          </a:p>
        </p:txBody>
      </p:sp>
      <p:sp>
        <p:nvSpPr>
          <p:cNvPr id="11" name="Text 8"/>
          <p:cNvSpPr txBox="1"/>
          <p:nvPr/>
        </p:nvSpPr>
        <p:spPr>
          <a:xfrm>
            <a:off x="7955280" y="4434840"/>
            <a:ext cx="3657600" cy="365760"/>
          </a:xfrm>
          <a:prstGeom prst="rect">
            <a:avLst/>
          </a:prstGeom>
          <a:noFill/>
          <a:ln/>
        </p:spPr>
        <p:txBody>
          <a:bodyPr wrap="square" lIns="0" tIns="0" rIns="0" bIns="0" rtlCol="0" anchor="t"/>
          <a:lstStyle/>
          <a:p>
            <a:pPr indent="0" marL="0">
              <a:buNone/>
            </a:pPr>
            <a:r>
              <a:rPr lang="en-US" sz="1600" dirty="0">
                <a:solidFill>
                  <a:srgbClr val="4D4B48"/>
                </a:solidFill>
                <a:latin typeface="Arial" pitchFamily="34" charset="0"/>
                <a:ea typeface="Arial" pitchFamily="34" charset="-122"/>
                <a:cs typeface="Arial" pitchFamily="34" charset="-120"/>
              </a:rPr>
              <a:t>Grenadian</a:t>
            </a:r>
            <a:endParaRPr lang="en-US" sz="1600" dirty="0"/>
          </a:p>
        </p:txBody>
      </p:sp>
      <p:sp>
        <p:nvSpPr>
          <p:cNvPr id="12" name="Text 9"/>
          <p:cNvSpPr txBox="1"/>
          <p:nvPr/>
        </p:nvSpPr>
        <p:spPr>
          <a:xfrm>
            <a:off x="7955280" y="4818888"/>
            <a:ext cx="3657600" cy="365760"/>
          </a:xfrm>
          <a:prstGeom prst="rect">
            <a:avLst/>
          </a:prstGeom>
          <a:noFill/>
          <a:ln/>
        </p:spPr>
        <p:txBody>
          <a:bodyPr wrap="square" lIns="0" tIns="0" rIns="0" bIns="0" rtlCol="0" anchor="t"/>
          <a:lstStyle/>
          <a:p>
            <a:pPr indent="0" marL="0">
              <a:buNone/>
            </a:pPr>
            <a:r>
              <a:rPr lang="en-US" sz="1600" dirty="0">
                <a:solidFill>
                  <a:srgbClr val="4D4B48"/>
                </a:solidFill>
                <a:latin typeface="Arial" pitchFamily="34" charset="0"/>
                <a:ea typeface="Arial" pitchFamily="34" charset="-122"/>
                <a:cs typeface="Arial" pitchFamily="34" charset="-120"/>
              </a:rPr>
              <a:t>Vincentian</a:t>
            </a:r>
            <a:endParaRPr lang="en-US" sz="1600" dirty="0"/>
          </a:p>
        </p:txBody>
      </p:sp>
      <p:sp>
        <p:nvSpPr>
          <p:cNvPr id="13" name="Text 10"/>
          <p:cNvSpPr txBox="1"/>
          <p:nvPr/>
        </p:nvSpPr>
        <p:spPr>
          <a:xfrm>
            <a:off x="7955280" y="5202936"/>
            <a:ext cx="3657600" cy="365760"/>
          </a:xfrm>
          <a:prstGeom prst="rect">
            <a:avLst/>
          </a:prstGeom>
          <a:noFill/>
          <a:ln/>
        </p:spPr>
        <p:txBody>
          <a:bodyPr wrap="square" lIns="0" tIns="0" rIns="0" bIns="0" rtlCol="0" anchor="t"/>
          <a:lstStyle/>
          <a:p>
            <a:pPr indent="0" marL="0">
              <a:buNone/>
            </a:pPr>
            <a:r>
              <a:rPr lang="en-US" sz="1600" dirty="0">
                <a:solidFill>
                  <a:srgbClr val="4D4B48"/>
                </a:solidFill>
                <a:latin typeface="Arial" pitchFamily="34" charset="0"/>
                <a:ea typeface="Arial" pitchFamily="34" charset="-122"/>
                <a:cs typeface="Arial" pitchFamily="34" charset="-120"/>
              </a:rPr>
              <a:t>St. Lucian</a:t>
            </a:r>
            <a:endParaRPr lang="en-US" sz="1600" dirty="0"/>
          </a:p>
        </p:txBody>
      </p:sp>
      <p:sp>
        <p:nvSpPr>
          <p:cNvPr id="14" name="Text 11"/>
          <p:cNvSpPr txBox="1"/>
          <p:nvPr/>
        </p:nvSpPr>
        <p:spPr>
          <a:xfrm>
            <a:off x="7955280" y="5623560"/>
            <a:ext cx="3657600" cy="365760"/>
          </a:xfrm>
          <a:prstGeom prst="rect">
            <a:avLst/>
          </a:prstGeom>
          <a:noFill/>
          <a:ln/>
        </p:spPr>
        <p:txBody>
          <a:bodyPr wrap="square" lIns="0" tIns="0" rIns="0" bIns="0" rtlCol="0" anchor="t"/>
          <a:lstStyle/>
          <a:p>
            <a:pPr indent="0" marL="0">
              <a:buNone/>
            </a:pPr>
            <a:r>
              <a:rPr lang="en-US" sz="1200" dirty="0">
                <a:solidFill>
                  <a:srgbClr val="6B6863"/>
                </a:solidFill>
                <a:latin typeface="Arial" pitchFamily="34" charset="0"/>
                <a:ea typeface="Arial" pitchFamily="34" charset="-122"/>
                <a:cs typeface="Arial" pitchFamily="34" charset="-120"/>
              </a:rPr>
              <a:t>Each tradition by name, never just "Caribbean".</a:t>
            </a:r>
            <a:endParaRPr lang="en-US" sz="1200" dirty="0"/>
          </a:p>
        </p:txBody>
      </p:sp>
      <p:sp>
        <p:nvSpPr>
          <p:cNvPr id="25" name="Slide Number Placeholder 0"/>
          <p:cNvSpPr>
            <a:spLocks noGrp="1"/>
          </p:cNvSpPr>
          <p:nvPr>
            <p:ph type="sldNum" sz="quarter" idx="4294967295"/>
          </p:nvPr>
        </p:nvSpPr>
        <p:spPr>
          <a:xfrm>
            <a:off x="11185855" y="6217920"/>
            <a:ext cx="457200" cy="365760"/>
          </a:xfrm>
          <a:prstGeom prst="rect">
            <a:avLst/>
          </a:prstGeom>
          <a:extLst>
            <a:ext uri="{C572A759-6A51-4108-AA02-DFA0A04FC94B}">
              <ma14:wrappingTextBoxFlag xmlns:ma14="http://schemas.microsoft.com/office/mac/drawingml/2011/main" val="0"/>
            </a:ext>
          </a:extLst>
        </p:spPr>
        <p:txBody>
          <a:bodyPr/>
          <a:lstStyle>
            <a:lvl1pPr>
              <a:defRPr sz="1100">
                <a:solidFill>
                  <a:srgbClr val="6B6863"/>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600" b="1" dirty="0">
                <a:solidFill>
                  <a:srgbClr val="141312"/>
                </a:solidFill>
                <a:latin typeface="Arial" pitchFamily="34" charset="0"/>
                <a:ea typeface="Arial" pitchFamily="34" charset="-122"/>
                <a:cs typeface="Arial" pitchFamily="34" charset="-120"/>
              </a:rPr>
              <a:t>Your own page</a:t>
            </a:r>
            <a:endParaRPr lang="en-US" sz="3600" dirty="0"/>
          </a:p>
        </p:txBody>
      </p:sp>
      <p:sp>
        <p:nvSpPr>
          <p:cNvPr id="3" name="Shape 1"/>
          <p:cNvSpPr/>
          <p:nvPr/>
        </p:nvSpPr>
        <p:spPr>
          <a:xfrm>
            <a:off x="548640" y="1463040"/>
            <a:ext cx="6949440" cy="4343400"/>
          </a:xfrm>
          <a:prstGeom prst="rect">
            <a:avLst/>
          </a:prstGeom>
          <a:solidFill>
            <a:srgbClr val="FFFFFF"/>
          </a:solidFill>
          <a:ln w="12700">
            <a:solidFill>
              <a:srgbClr val="E2DED7"/>
            </a:solidFill>
            <a:prstDash val="solid"/>
          </a:ln>
          <a:effectLst>
            <a:outerShdw sx="100000" sy="100000" kx="0" ky="0" algn="bl" rotWithShape="0" blurRad="127000" dist="38100" dir="5400000">
              <a:srgbClr val="000000">
                <a:alpha val="18000"/>
              </a:srgbClr>
            </a:outerShdw>
          </a:effectLst>
        </p:spPr>
      </p:sp>
      <p:pic>
        <p:nvPicPr>
          <p:cNvPr id="4" name="Image 0" descr="Screenshot: caterer profile jerk desktop">    </p:cNvPr>
          <p:cNvPicPr>
            <a:picLocks noChangeAspect="1"/>
          </p:cNvPicPr>
          <p:nvPr/>
        </p:nvPicPr>
        <p:blipFill>
          <a:blip r:embed="rId1"/>
          <a:srcRect l="0" r="0" t="29803" b="27299"/>
          <a:stretch/>
        </p:blipFill>
        <p:spPr>
          <a:xfrm>
            <a:off x="548640" y="1463040"/>
            <a:ext cx="6949440" cy="4343400"/>
          </a:xfrm>
          <a:prstGeom prst="rect">
            <a:avLst/>
          </a:prstGeom>
        </p:spPr>
      </p:pic>
      <p:sp>
        <p:nvSpPr>
          <p:cNvPr id="5" name="Text 2"/>
          <p:cNvSpPr txBox="1"/>
          <p:nvPr/>
        </p:nvSpPr>
        <p:spPr>
          <a:xfrm>
            <a:off x="7955280" y="1463040"/>
            <a:ext cx="3657600" cy="42062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41312"/>
                </a:solidFill>
                <a:latin typeface="Arial" pitchFamily="34" charset="0"/>
                <a:ea typeface="Arial" pitchFamily="34" charset="-122"/>
                <a:cs typeface="Arial" pitchFamily="34" charset="-120"/>
              </a:rPr>
              <a:t>Your photos and your story</a:t>
            </a:r>
            <a:endParaRPr lang="en-US" sz="1800" dirty="0"/>
          </a:p>
          <a:p>
            <a:pPr marL="228600" indent="-228600">
              <a:spcAft>
                <a:spcPts val="800"/>
              </a:spcAft>
              <a:buSzPct val="100000"/>
              <a:buChar char="•"/>
            </a:pPr>
            <a:r>
              <a:rPr lang="en-US" sz="1800" dirty="0">
                <a:solidFill>
                  <a:srgbClr val="141312"/>
                </a:solidFill>
                <a:latin typeface="Arial" pitchFamily="34" charset="0"/>
                <a:ea typeface="Arial" pitchFamily="34" charset="-122"/>
                <a:cs typeface="Arial" pitchFamily="34" charset="-120"/>
              </a:rPr>
              <a:t>The traditions you cook from</a:t>
            </a:r>
            <a:endParaRPr lang="en-US" sz="1800" dirty="0"/>
          </a:p>
          <a:p>
            <a:pPr marL="228600" indent="-228600">
              <a:spcAft>
                <a:spcPts val="800"/>
              </a:spcAft>
              <a:buSzPct val="100000"/>
              <a:buChar char="•"/>
            </a:pPr>
            <a:r>
              <a:rPr lang="en-US" sz="1800" dirty="0">
                <a:solidFill>
                  <a:srgbClr val="141312"/>
                </a:solidFill>
                <a:latin typeface="Arial" pitchFamily="34" charset="0"/>
                <a:ea typeface="Arial" pitchFamily="34" charset="-122"/>
                <a:cs typeface="Arial" pitchFamily="34" charset="-120"/>
              </a:rPr>
              <a:t>The event sizes and occasions you take</a:t>
            </a:r>
            <a:endParaRPr lang="en-US" sz="1800" dirty="0"/>
          </a:p>
          <a:p>
            <a:pPr marL="228600" indent="-228600">
              <a:spcAft>
                <a:spcPts val="800"/>
              </a:spcAft>
              <a:buSzPct val="100000"/>
              <a:buChar char="•"/>
            </a:pPr>
            <a:r>
              <a:rPr lang="en-US" sz="1800" dirty="0">
                <a:solidFill>
                  <a:srgbClr val="141312"/>
                </a:solidFill>
                <a:latin typeface="Arial" pitchFamily="34" charset="0"/>
                <a:ea typeface="Arial" pitchFamily="34" charset="-122"/>
                <a:cs typeface="Arial" pitchFamily="34" charset="-120"/>
              </a:rPr>
              <a:t>Your menu, with prices if you want them</a:t>
            </a:r>
            <a:endParaRPr lang="en-US" sz="1800" dirty="0"/>
          </a:p>
          <a:p>
            <a:pPr marL="228600" indent="-228600">
              <a:spcAft>
                <a:spcPts val="800"/>
              </a:spcAft>
              <a:buSzPct val="100000"/>
              <a:buChar char="•"/>
            </a:pPr>
            <a:r>
              <a:rPr lang="en-US" sz="1800" dirty="0">
                <a:solidFill>
                  <a:srgbClr val="141312"/>
                </a:solidFill>
                <a:latin typeface="Arial" pitchFamily="34" charset="0"/>
                <a:ea typeface="Arial" pitchFamily="34" charset="-122"/>
                <a:cs typeface="Arial" pitchFamily="34" charset="-120"/>
              </a:rPr>
              <a:t>Reviews from customers after their event</a:t>
            </a:r>
            <a:endParaRPr lang="en-US" sz="1800" dirty="0"/>
          </a:p>
          <a:p>
            <a:pPr marL="228600" indent="-228600">
              <a:spcAft>
                <a:spcPts val="800"/>
              </a:spcAft>
              <a:buSzPct val="100000"/>
              <a:buChar char="•"/>
            </a:pPr>
            <a:r>
              <a:rPr lang="en-US" sz="1800" dirty="0">
                <a:solidFill>
                  <a:srgbClr val="141312"/>
                </a:solidFill>
                <a:latin typeface="Arial" pitchFamily="34" charset="0"/>
                <a:ea typeface="Arial" pitchFamily="34" charset="-122"/>
                <a:cs typeface="Arial" pitchFamily="34" charset="-120"/>
              </a:rPr>
              <a:t>A "Send an enquiry" button</a:t>
            </a:r>
            <a:endParaRPr lang="en-US" sz="1800" dirty="0"/>
          </a:p>
        </p:txBody>
      </p:sp>
      <p:sp>
        <p:nvSpPr>
          <p:cNvPr id="25" name="Slide Number Placeholder 0"/>
          <p:cNvSpPr>
            <a:spLocks noGrp="1"/>
          </p:cNvSpPr>
          <p:nvPr>
            <p:ph type="sldNum" sz="quarter" idx="4294967295"/>
          </p:nvPr>
        </p:nvSpPr>
        <p:spPr>
          <a:xfrm>
            <a:off x="11185855" y="6217920"/>
            <a:ext cx="457200" cy="365760"/>
          </a:xfrm>
          <a:prstGeom prst="rect">
            <a:avLst/>
          </a:prstGeom>
          <a:extLst>
            <a:ext uri="{C572A759-6A51-4108-AA02-DFA0A04FC94B}">
              <ma14:wrappingTextBoxFlag xmlns:ma14="http://schemas.microsoft.com/office/mac/drawingml/2011/main" val="0"/>
            </a:ext>
          </a:extLst>
        </p:spPr>
        <p:txBody>
          <a:bodyPr/>
          <a:lstStyle>
            <a:lvl1pPr>
              <a:defRPr sz="1100">
                <a:solidFill>
                  <a:srgbClr val="6B6863"/>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600" b="1" dirty="0">
                <a:solidFill>
                  <a:srgbClr val="141312"/>
                </a:solidFill>
                <a:latin typeface="Arial" pitchFamily="34" charset="0"/>
                <a:ea typeface="Arial" pitchFamily="34" charset="-122"/>
                <a:cs typeface="Arial" pitchFamily="34" charset="-120"/>
              </a:rPr>
              <a:t>A menu people can trust at a glance</a:t>
            </a:r>
            <a:endParaRPr lang="en-US" sz="3600" dirty="0"/>
          </a:p>
        </p:txBody>
      </p:sp>
      <p:sp>
        <p:nvSpPr>
          <p:cNvPr id="3" name="Shape 1"/>
          <p:cNvSpPr/>
          <p:nvPr/>
        </p:nvSpPr>
        <p:spPr>
          <a:xfrm>
            <a:off x="8705088" y="1252728"/>
            <a:ext cx="2322338" cy="4855464"/>
          </a:xfrm>
          <a:prstGeom prst="roundRect">
            <a:avLst>
              <a:gd name="adj" fmla="val 8662"/>
            </a:avLst>
          </a:prstGeom>
          <a:solidFill>
            <a:srgbClr val="141312"/>
          </a:solidFill>
          <a:ln w="12700">
            <a:solidFill>
              <a:srgbClr val="141312"/>
            </a:solidFill>
            <a:prstDash val="solid"/>
          </a:ln>
          <a:effectLst>
            <a:outerShdw sx="100000" sy="100000" kx="0" ky="0" algn="bl" rotWithShape="0" blurRad="101600" dist="38100" dir="5400000">
              <a:srgbClr val="000000">
                <a:alpha val="25000"/>
              </a:srgbClr>
            </a:outerShdw>
          </a:effectLst>
        </p:spPr>
      </p:sp>
      <p:pic>
        <p:nvPicPr>
          <p:cNvPr id="4" name="Image 0" descr="Screenshot: caterer profile menu phone">    </p:cNvPr>
          <p:cNvPicPr>
            <a:picLocks noChangeAspect="1"/>
          </p:cNvPicPr>
          <p:nvPr/>
        </p:nvPicPr>
        <p:blipFill>
          <a:blip r:embed="rId1"/>
          <a:stretch>
            <a:fillRect/>
          </a:stretch>
        </p:blipFill>
        <p:spPr>
          <a:xfrm>
            <a:off x="8778240" y="1325880"/>
            <a:ext cx="2176034" cy="4709160"/>
          </a:xfrm>
          <a:prstGeom prst="rect">
            <a:avLst/>
          </a:prstGeom>
        </p:spPr>
      </p:pic>
      <p:sp>
        <p:nvSpPr>
          <p:cNvPr id="5" name="Text 2"/>
          <p:cNvSpPr txBox="1"/>
          <p:nvPr/>
        </p:nvSpPr>
        <p:spPr>
          <a:xfrm>
            <a:off x="548640" y="1463040"/>
            <a:ext cx="7498080" cy="1005840"/>
          </a:xfrm>
          <a:prstGeom prst="rect">
            <a:avLst/>
          </a:prstGeom>
          <a:noFill/>
          <a:ln/>
        </p:spPr>
        <p:txBody>
          <a:bodyPr wrap="square" lIns="0" tIns="0" rIns="0" bIns="0" rtlCol="0" anchor="t"/>
          <a:lstStyle/>
          <a:p>
            <a:pPr indent="0" marL="0">
              <a:buNone/>
            </a:pPr>
            <a:r>
              <a:rPr lang="en-US" sz="1800" dirty="0">
                <a:solidFill>
                  <a:srgbClr val="141312"/>
                </a:solidFill>
                <a:latin typeface="Arial" pitchFamily="34" charset="0"/>
                <a:ea typeface="Arial" pitchFamily="34" charset="-122"/>
                <a:cs typeface="Arial" pitchFamily="34" charset="-120"/>
              </a:rPr>
              <a:t>Every dish can carry dietary and allergen tags from one fixed list, shown as labels, not buried in the description.</a:t>
            </a:r>
            <a:endParaRPr lang="en-US" sz="1800" dirty="0"/>
          </a:p>
        </p:txBody>
      </p:sp>
      <p:sp>
        <p:nvSpPr>
          <p:cNvPr id="6" name="Shape 3"/>
          <p:cNvSpPr/>
          <p:nvPr/>
        </p:nvSpPr>
        <p:spPr>
          <a:xfrm>
            <a:off x="548640" y="2743200"/>
            <a:ext cx="1645920" cy="384048"/>
          </a:xfrm>
          <a:prstGeom prst="roundRect">
            <a:avLst>
              <a:gd name="adj" fmla="val 50000"/>
            </a:avLst>
          </a:prstGeom>
          <a:solidFill>
            <a:srgbClr val="F7F5F2"/>
          </a:solidFill>
          <a:ln w="12700">
            <a:solidFill>
              <a:srgbClr val="F7F5F2"/>
            </a:solidFill>
            <a:prstDash val="solid"/>
          </a:ln>
        </p:spPr>
      </p:sp>
      <p:sp>
        <p:nvSpPr>
          <p:cNvPr id="7" name="Text 4"/>
          <p:cNvSpPr txBox="1"/>
          <p:nvPr/>
        </p:nvSpPr>
        <p:spPr>
          <a:xfrm>
            <a:off x="548640" y="2743200"/>
            <a:ext cx="1645920" cy="384048"/>
          </a:xfrm>
          <a:prstGeom prst="rect">
            <a:avLst/>
          </a:prstGeom>
          <a:noFill/>
          <a:ln/>
        </p:spPr>
        <p:txBody>
          <a:bodyPr wrap="square" lIns="0" tIns="0" rIns="0" bIns="0" rtlCol="0" anchor="ctr"/>
          <a:lstStyle/>
          <a:p>
            <a:pPr algn="ctr" indent="0" marL="0">
              <a:buNone/>
            </a:pPr>
            <a:r>
              <a:rPr lang="en-US" sz="1400" b="1" dirty="0">
                <a:solidFill>
                  <a:srgbClr val="141312"/>
                </a:solidFill>
                <a:latin typeface="Arial" pitchFamily="34" charset="0"/>
                <a:ea typeface="Arial" pitchFamily="34" charset="-122"/>
                <a:cs typeface="Arial" pitchFamily="34" charset="-120"/>
              </a:rPr>
              <a:t>Vegetarian</a:t>
            </a:r>
            <a:endParaRPr lang="en-US" sz="1400" dirty="0"/>
          </a:p>
        </p:txBody>
      </p:sp>
      <p:sp>
        <p:nvSpPr>
          <p:cNvPr id="8" name="Shape 5"/>
          <p:cNvSpPr/>
          <p:nvPr/>
        </p:nvSpPr>
        <p:spPr>
          <a:xfrm>
            <a:off x="2377440" y="2743200"/>
            <a:ext cx="1097280" cy="384048"/>
          </a:xfrm>
          <a:prstGeom prst="roundRect">
            <a:avLst>
              <a:gd name="adj" fmla="val 50000"/>
            </a:avLst>
          </a:prstGeom>
          <a:solidFill>
            <a:srgbClr val="F7F5F2"/>
          </a:solidFill>
          <a:ln w="12700">
            <a:solidFill>
              <a:srgbClr val="F7F5F2"/>
            </a:solidFill>
            <a:prstDash val="solid"/>
          </a:ln>
        </p:spPr>
      </p:sp>
      <p:sp>
        <p:nvSpPr>
          <p:cNvPr id="9" name="Text 6"/>
          <p:cNvSpPr txBox="1"/>
          <p:nvPr/>
        </p:nvSpPr>
        <p:spPr>
          <a:xfrm>
            <a:off x="2377440" y="2743200"/>
            <a:ext cx="1097280" cy="384048"/>
          </a:xfrm>
          <a:prstGeom prst="rect">
            <a:avLst/>
          </a:prstGeom>
          <a:noFill/>
          <a:ln/>
        </p:spPr>
        <p:txBody>
          <a:bodyPr wrap="square" lIns="0" tIns="0" rIns="0" bIns="0" rtlCol="0" anchor="ctr"/>
          <a:lstStyle/>
          <a:p>
            <a:pPr algn="ctr" indent="0" marL="0">
              <a:buNone/>
            </a:pPr>
            <a:r>
              <a:rPr lang="en-US" sz="1400" b="1" dirty="0">
                <a:solidFill>
                  <a:srgbClr val="141312"/>
                </a:solidFill>
                <a:latin typeface="Arial" pitchFamily="34" charset="0"/>
                <a:ea typeface="Arial" pitchFamily="34" charset="-122"/>
                <a:cs typeface="Arial" pitchFamily="34" charset="-120"/>
              </a:rPr>
              <a:t>Vegan</a:t>
            </a:r>
            <a:endParaRPr lang="en-US" sz="1400" dirty="0"/>
          </a:p>
        </p:txBody>
      </p:sp>
      <p:sp>
        <p:nvSpPr>
          <p:cNvPr id="10" name="Shape 7"/>
          <p:cNvSpPr/>
          <p:nvPr/>
        </p:nvSpPr>
        <p:spPr>
          <a:xfrm>
            <a:off x="3657600" y="2743200"/>
            <a:ext cx="1764792" cy="384048"/>
          </a:xfrm>
          <a:prstGeom prst="roundRect">
            <a:avLst>
              <a:gd name="adj" fmla="val 50000"/>
            </a:avLst>
          </a:prstGeom>
          <a:solidFill>
            <a:srgbClr val="F7F5F2"/>
          </a:solidFill>
          <a:ln w="12700">
            <a:solidFill>
              <a:srgbClr val="F7F5F2"/>
            </a:solidFill>
            <a:prstDash val="solid"/>
          </a:ln>
        </p:spPr>
      </p:sp>
      <p:sp>
        <p:nvSpPr>
          <p:cNvPr id="11" name="Text 8"/>
          <p:cNvSpPr txBox="1"/>
          <p:nvPr/>
        </p:nvSpPr>
        <p:spPr>
          <a:xfrm>
            <a:off x="3657600" y="2743200"/>
            <a:ext cx="1764792" cy="384048"/>
          </a:xfrm>
          <a:prstGeom prst="rect">
            <a:avLst/>
          </a:prstGeom>
          <a:noFill/>
          <a:ln/>
        </p:spPr>
        <p:txBody>
          <a:bodyPr wrap="square" lIns="0" tIns="0" rIns="0" bIns="0" rtlCol="0" anchor="ctr"/>
          <a:lstStyle/>
          <a:p>
            <a:pPr algn="ctr" indent="0" marL="0">
              <a:buNone/>
            </a:pPr>
            <a:r>
              <a:rPr lang="en-US" sz="1400" b="1" dirty="0">
                <a:solidFill>
                  <a:srgbClr val="141312"/>
                </a:solidFill>
                <a:latin typeface="Arial" pitchFamily="34" charset="0"/>
                <a:ea typeface="Arial" pitchFamily="34" charset="-122"/>
                <a:cs typeface="Arial" pitchFamily="34" charset="-120"/>
              </a:rPr>
              <a:t>Gluten-free</a:t>
            </a:r>
            <a:endParaRPr lang="en-US" sz="1400" dirty="0"/>
          </a:p>
        </p:txBody>
      </p:sp>
      <p:sp>
        <p:nvSpPr>
          <p:cNvPr id="12" name="Shape 9"/>
          <p:cNvSpPr/>
          <p:nvPr/>
        </p:nvSpPr>
        <p:spPr>
          <a:xfrm>
            <a:off x="5605272" y="2743200"/>
            <a:ext cx="1645920" cy="384048"/>
          </a:xfrm>
          <a:prstGeom prst="roundRect">
            <a:avLst>
              <a:gd name="adj" fmla="val 50000"/>
            </a:avLst>
          </a:prstGeom>
          <a:solidFill>
            <a:srgbClr val="F7F5F2"/>
          </a:solidFill>
          <a:ln w="12700">
            <a:solidFill>
              <a:srgbClr val="F7F5F2"/>
            </a:solidFill>
            <a:prstDash val="solid"/>
          </a:ln>
        </p:spPr>
      </p:sp>
      <p:sp>
        <p:nvSpPr>
          <p:cNvPr id="13" name="Text 10"/>
          <p:cNvSpPr txBox="1"/>
          <p:nvPr/>
        </p:nvSpPr>
        <p:spPr>
          <a:xfrm>
            <a:off x="5605272" y="2743200"/>
            <a:ext cx="1645920" cy="384048"/>
          </a:xfrm>
          <a:prstGeom prst="rect">
            <a:avLst/>
          </a:prstGeom>
          <a:noFill/>
          <a:ln/>
        </p:spPr>
        <p:txBody>
          <a:bodyPr wrap="square" lIns="0" tIns="0" rIns="0" bIns="0" rtlCol="0" anchor="ctr"/>
          <a:lstStyle/>
          <a:p>
            <a:pPr algn="ctr" indent="0" marL="0">
              <a:buNone/>
            </a:pPr>
            <a:r>
              <a:rPr lang="en-US" sz="1400" b="1" dirty="0">
                <a:solidFill>
                  <a:srgbClr val="141312"/>
                </a:solidFill>
                <a:latin typeface="Arial" pitchFamily="34" charset="0"/>
                <a:ea typeface="Arial" pitchFamily="34" charset="-122"/>
                <a:cs typeface="Arial" pitchFamily="34" charset="-120"/>
              </a:rPr>
              <a:t>Dairy-free</a:t>
            </a:r>
            <a:endParaRPr lang="en-US" sz="1400" dirty="0"/>
          </a:p>
        </p:txBody>
      </p:sp>
      <p:sp>
        <p:nvSpPr>
          <p:cNvPr id="14" name="Shape 11"/>
          <p:cNvSpPr/>
          <p:nvPr/>
        </p:nvSpPr>
        <p:spPr>
          <a:xfrm>
            <a:off x="548640" y="3291840"/>
            <a:ext cx="1097280" cy="384048"/>
          </a:xfrm>
          <a:prstGeom prst="roundRect">
            <a:avLst>
              <a:gd name="adj" fmla="val 50000"/>
            </a:avLst>
          </a:prstGeom>
          <a:solidFill>
            <a:srgbClr val="F7F5F2"/>
          </a:solidFill>
          <a:ln w="12700">
            <a:solidFill>
              <a:srgbClr val="F7F5F2"/>
            </a:solidFill>
            <a:prstDash val="solid"/>
          </a:ln>
        </p:spPr>
      </p:sp>
      <p:sp>
        <p:nvSpPr>
          <p:cNvPr id="15" name="Text 12"/>
          <p:cNvSpPr txBox="1"/>
          <p:nvPr/>
        </p:nvSpPr>
        <p:spPr>
          <a:xfrm>
            <a:off x="548640" y="3291840"/>
            <a:ext cx="1097280" cy="384048"/>
          </a:xfrm>
          <a:prstGeom prst="rect">
            <a:avLst/>
          </a:prstGeom>
          <a:noFill/>
          <a:ln/>
        </p:spPr>
        <p:txBody>
          <a:bodyPr wrap="square" lIns="0" tIns="0" rIns="0" bIns="0" rtlCol="0" anchor="ctr"/>
          <a:lstStyle/>
          <a:p>
            <a:pPr algn="ctr" indent="0" marL="0">
              <a:buNone/>
            </a:pPr>
            <a:r>
              <a:rPr lang="en-US" sz="1400" b="1" dirty="0">
                <a:solidFill>
                  <a:srgbClr val="141312"/>
                </a:solidFill>
                <a:latin typeface="Arial" pitchFamily="34" charset="0"/>
                <a:ea typeface="Arial" pitchFamily="34" charset="-122"/>
                <a:cs typeface="Arial" pitchFamily="34" charset="-120"/>
              </a:rPr>
              <a:t>Halal</a:t>
            </a:r>
            <a:endParaRPr lang="en-US" sz="1400" dirty="0"/>
          </a:p>
        </p:txBody>
      </p:sp>
      <p:sp>
        <p:nvSpPr>
          <p:cNvPr id="16" name="Shape 13"/>
          <p:cNvSpPr/>
          <p:nvPr/>
        </p:nvSpPr>
        <p:spPr>
          <a:xfrm>
            <a:off x="1828800" y="3291840"/>
            <a:ext cx="2002536" cy="384048"/>
          </a:xfrm>
          <a:prstGeom prst="roundRect">
            <a:avLst>
              <a:gd name="adj" fmla="val 50000"/>
            </a:avLst>
          </a:prstGeom>
          <a:solidFill>
            <a:srgbClr val="FBEBD0"/>
          </a:solidFill>
          <a:ln w="12700">
            <a:solidFill>
              <a:srgbClr val="FBEBD0"/>
            </a:solidFill>
            <a:prstDash val="solid"/>
          </a:ln>
        </p:spPr>
      </p:sp>
      <p:sp>
        <p:nvSpPr>
          <p:cNvPr id="17" name="Text 14"/>
          <p:cNvSpPr txBox="1"/>
          <p:nvPr/>
        </p:nvSpPr>
        <p:spPr>
          <a:xfrm>
            <a:off x="1828800" y="3291840"/>
            <a:ext cx="2002536" cy="384048"/>
          </a:xfrm>
          <a:prstGeom prst="rect">
            <a:avLst/>
          </a:prstGeom>
          <a:noFill/>
          <a:ln/>
        </p:spPr>
        <p:txBody>
          <a:bodyPr wrap="square" lIns="0" tIns="0" rIns="0" bIns="0" rtlCol="0" anchor="ctr"/>
          <a:lstStyle/>
          <a:p>
            <a:pPr algn="ctr" indent="0" marL="0">
              <a:buNone/>
            </a:pPr>
            <a:r>
              <a:rPr lang="en-US" sz="1400" b="1" dirty="0">
                <a:solidFill>
                  <a:srgbClr val="141312"/>
                </a:solidFill>
                <a:latin typeface="Arial" pitchFamily="34" charset="0"/>
                <a:ea typeface="Arial" pitchFamily="34" charset="-122"/>
                <a:cs typeface="Arial" pitchFamily="34" charset="-120"/>
              </a:rPr>
              <a:t>Contains nuts</a:t>
            </a:r>
            <a:endParaRPr lang="en-US" sz="1400" dirty="0"/>
          </a:p>
        </p:txBody>
      </p:sp>
      <p:sp>
        <p:nvSpPr>
          <p:cNvPr id="18" name="Shape 15"/>
          <p:cNvSpPr/>
          <p:nvPr/>
        </p:nvSpPr>
        <p:spPr>
          <a:xfrm>
            <a:off x="4014216" y="3291840"/>
            <a:ext cx="2596896" cy="384048"/>
          </a:xfrm>
          <a:prstGeom prst="roundRect">
            <a:avLst>
              <a:gd name="adj" fmla="val 50000"/>
            </a:avLst>
          </a:prstGeom>
          <a:solidFill>
            <a:srgbClr val="FBEBD0"/>
          </a:solidFill>
          <a:ln w="12700">
            <a:solidFill>
              <a:srgbClr val="FBEBD0"/>
            </a:solidFill>
            <a:prstDash val="solid"/>
          </a:ln>
        </p:spPr>
      </p:sp>
      <p:sp>
        <p:nvSpPr>
          <p:cNvPr id="19" name="Text 16"/>
          <p:cNvSpPr txBox="1"/>
          <p:nvPr/>
        </p:nvSpPr>
        <p:spPr>
          <a:xfrm>
            <a:off x="4014216" y="3291840"/>
            <a:ext cx="2596896" cy="384048"/>
          </a:xfrm>
          <a:prstGeom prst="rect">
            <a:avLst/>
          </a:prstGeom>
          <a:noFill/>
          <a:ln/>
        </p:spPr>
        <p:txBody>
          <a:bodyPr wrap="square" lIns="0" tIns="0" rIns="0" bIns="0" rtlCol="0" anchor="ctr"/>
          <a:lstStyle/>
          <a:p>
            <a:pPr algn="ctr" indent="0" marL="0">
              <a:buNone/>
            </a:pPr>
            <a:r>
              <a:rPr lang="en-US" sz="1400" b="1" dirty="0">
                <a:solidFill>
                  <a:srgbClr val="141312"/>
                </a:solidFill>
                <a:latin typeface="Arial" pitchFamily="34" charset="0"/>
                <a:ea typeface="Arial" pitchFamily="34" charset="-122"/>
                <a:cs typeface="Arial" pitchFamily="34" charset="-120"/>
              </a:rPr>
              <a:t>Contains shellfish</a:t>
            </a:r>
            <a:endParaRPr lang="en-US" sz="1400" dirty="0"/>
          </a:p>
        </p:txBody>
      </p:sp>
      <p:sp>
        <p:nvSpPr>
          <p:cNvPr id="20" name="Shape 17"/>
          <p:cNvSpPr/>
          <p:nvPr/>
        </p:nvSpPr>
        <p:spPr>
          <a:xfrm>
            <a:off x="6793992" y="3291840"/>
            <a:ext cx="1097280" cy="384048"/>
          </a:xfrm>
          <a:prstGeom prst="roundRect">
            <a:avLst>
              <a:gd name="adj" fmla="val 50000"/>
            </a:avLst>
          </a:prstGeom>
          <a:solidFill>
            <a:srgbClr val="F7F5F2"/>
          </a:solidFill>
          <a:ln w="12700">
            <a:solidFill>
              <a:srgbClr val="F7F5F2"/>
            </a:solidFill>
            <a:prstDash val="solid"/>
          </a:ln>
        </p:spPr>
      </p:sp>
      <p:sp>
        <p:nvSpPr>
          <p:cNvPr id="21" name="Text 18"/>
          <p:cNvSpPr txBox="1"/>
          <p:nvPr/>
        </p:nvSpPr>
        <p:spPr>
          <a:xfrm>
            <a:off x="6793992" y="3291840"/>
            <a:ext cx="1097280" cy="384048"/>
          </a:xfrm>
          <a:prstGeom prst="rect">
            <a:avLst/>
          </a:prstGeom>
          <a:noFill/>
          <a:ln/>
        </p:spPr>
        <p:txBody>
          <a:bodyPr wrap="square" lIns="0" tIns="0" rIns="0" bIns="0" rtlCol="0" anchor="ctr"/>
          <a:lstStyle/>
          <a:p>
            <a:pPr algn="ctr" indent="0" marL="0">
              <a:buNone/>
            </a:pPr>
            <a:r>
              <a:rPr lang="en-US" sz="1400" b="1" dirty="0">
                <a:solidFill>
                  <a:srgbClr val="141312"/>
                </a:solidFill>
                <a:latin typeface="Arial" pitchFamily="34" charset="0"/>
                <a:ea typeface="Arial" pitchFamily="34" charset="-122"/>
                <a:cs typeface="Arial" pitchFamily="34" charset="-120"/>
              </a:rPr>
              <a:t>Spicy</a:t>
            </a:r>
            <a:endParaRPr lang="en-US" sz="1400" dirty="0"/>
          </a:p>
        </p:txBody>
      </p:sp>
      <p:sp>
        <p:nvSpPr>
          <p:cNvPr id="22" name="Text 19"/>
          <p:cNvSpPr txBox="1"/>
          <p:nvPr/>
        </p:nvSpPr>
        <p:spPr>
          <a:xfrm>
            <a:off x="548640" y="4206240"/>
            <a:ext cx="7498080" cy="822960"/>
          </a:xfrm>
          <a:prstGeom prst="rect">
            <a:avLst/>
          </a:prstGeom>
          <a:noFill/>
          <a:ln/>
        </p:spPr>
        <p:txBody>
          <a:bodyPr wrap="square" lIns="0" tIns="0" rIns="0" bIns="0" rtlCol="0" anchor="t"/>
          <a:lstStyle/>
          <a:p>
            <a:pPr indent="0" marL="0">
              <a:buNone/>
            </a:pPr>
            <a:r>
              <a:rPr lang="en-US" sz="1600" dirty="0">
                <a:solidFill>
                  <a:srgbClr val="4D4B48"/>
                </a:solidFill>
                <a:latin typeface="Arial" pitchFamily="34" charset="0"/>
                <a:ea typeface="Arial" pitchFamily="34" charset="-122"/>
                <a:cs typeface="Arial" pitchFamily="34" charset="-120"/>
              </a:rPr>
              <a:t>You choose the tags for your own dishes. Sweet Hand does not certify or inspect kitchens.</a:t>
            </a:r>
            <a:endParaRPr lang="en-US" sz="1600" dirty="0"/>
          </a:p>
        </p:txBody>
      </p:sp>
      <p:sp>
        <p:nvSpPr>
          <p:cNvPr id="25" name="Slide Number Placeholder 0"/>
          <p:cNvSpPr>
            <a:spLocks noGrp="1"/>
          </p:cNvSpPr>
          <p:nvPr>
            <p:ph type="sldNum" sz="quarter" idx="4294967295"/>
          </p:nvPr>
        </p:nvSpPr>
        <p:spPr>
          <a:xfrm>
            <a:off x="11185855" y="6217920"/>
            <a:ext cx="457200" cy="365760"/>
          </a:xfrm>
          <a:prstGeom prst="rect">
            <a:avLst/>
          </a:prstGeom>
          <a:extLst>
            <a:ext uri="{C572A759-6A51-4108-AA02-DFA0A04FC94B}">
              <ma14:wrappingTextBoxFlag xmlns:ma14="http://schemas.microsoft.com/office/mac/drawingml/2011/main" val="0"/>
            </a:ext>
          </a:extLst>
        </p:spPr>
        <p:txBody>
          <a:bodyPr/>
          <a:lstStyle>
            <a:lvl1pPr>
              <a:defRPr sz="1100">
                <a:solidFill>
                  <a:srgbClr val="6B6863"/>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600" b="1" dirty="0">
                <a:solidFill>
                  <a:srgbClr val="141312"/>
                </a:solidFill>
                <a:latin typeface="Arial" pitchFamily="34" charset="0"/>
                <a:ea typeface="Arial" pitchFamily="34" charset="-122"/>
                <a:cs typeface="Arial" pitchFamily="34" charset="-120"/>
              </a:rPr>
              <a:t>Build it from your phone</a:t>
            </a:r>
            <a:endParaRPr lang="en-US" sz="3600" dirty="0"/>
          </a:p>
        </p:txBody>
      </p:sp>
      <p:sp>
        <p:nvSpPr>
          <p:cNvPr id="3" name="Shape 1"/>
          <p:cNvSpPr/>
          <p:nvPr/>
        </p:nvSpPr>
        <p:spPr>
          <a:xfrm>
            <a:off x="658368" y="1344168"/>
            <a:ext cx="2068819" cy="4306824"/>
          </a:xfrm>
          <a:prstGeom prst="roundRect">
            <a:avLst>
              <a:gd name="adj" fmla="val 9724"/>
            </a:avLst>
          </a:prstGeom>
          <a:solidFill>
            <a:srgbClr val="141312"/>
          </a:solidFill>
          <a:ln w="12700">
            <a:solidFill>
              <a:srgbClr val="141312"/>
            </a:solidFill>
            <a:prstDash val="solid"/>
          </a:ln>
          <a:effectLst>
            <a:outerShdw sx="100000" sy="100000" kx="0" ky="0" algn="bl" rotWithShape="0" blurRad="101600" dist="38100" dir="5400000">
              <a:srgbClr val="000000">
                <a:alpha val="25000"/>
              </a:srgbClr>
            </a:outerShdw>
          </a:effectLst>
        </p:spPr>
      </p:sp>
      <p:pic>
        <p:nvPicPr>
          <p:cNvPr id="4" name="Image 0" descr="Screenshot: profile menu phone">    </p:cNvPr>
          <p:cNvPicPr>
            <a:picLocks noChangeAspect="1"/>
          </p:cNvPicPr>
          <p:nvPr/>
        </p:nvPicPr>
        <p:blipFill>
          <a:blip r:embed="rId1"/>
          <a:stretch>
            <a:fillRect/>
          </a:stretch>
        </p:blipFill>
        <p:spPr>
          <a:xfrm>
            <a:off x="731520" y="1417320"/>
            <a:ext cx="1922515" cy="4160520"/>
          </a:xfrm>
          <a:prstGeom prst="rect">
            <a:avLst/>
          </a:prstGeom>
        </p:spPr>
      </p:pic>
      <p:sp>
        <p:nvSpPr>
          <p:cNvPr id="5" name="Text 2"/>
          <p:cNvSpPr txBox="1"/>
          <p:nvPr/>
        </p:nvSpPr>
        <p:spPr>
          <a:xfrm>
            <a:off x="640080" y="5669280"/>
            <a:ext cx="2103120" cy="365760"/>
          </a:xfrm>
          <a:prstGeom prst="rect">
            <a:avLst/>
          </a:prstGeom>
          <a:noFill/>
          <a:ln/>
        </p:spPr>
        <p:txBody>
          <a:bodyPr wrap="square" lIns="0" tIns="0" rIns="0" bIns="0" rtlCol="0" anchor="t"/>
          <a:lstStyle/>
          <a:p>
            <a:pPr algn="ctr" indent="0" marL="0">
              <a:buNone/>
            </a:pPr>
            <a:r>
              <a:rPr lang="en-US" sz="1400" b="1" dirty="0">
                <a:solidFill>
                  <a:srgbClr val="141312"/>
                </a:solidFill>
                <a:latin typeface="Arial" pitchFamily="34" charset="0"/>
                <a:ea typeface="Arial" pitchFamily="34" charset="-122"/>
                <a:cs typeface="Arial" pitchFamily="34" charset="-120"/>
              </a:rPr>
              <a:t>Menu</a:t>
            </a:r>
            <a:endParaRPr lang="en-US" sz="1400" dirty="0"/>
          </a:p>
        </p:txBody>
      </p:sp>
      <p:sp>
        <p:nvSpPr>
          <p:cNvPr id="6" name="Shape 3"/>
          <p:cNvSpPr/>
          <p:nvPr/>
        </p:nvSpPr>
        <p:spPr>
          <a:xfrm>
            <a:off x="3172968" y="1344168"/>
            <a:ext cx="2068819" cy="4306824"/>
          </a:xfrm>
          <a:prstGeom prst="roundRect">
            <a:avLst>
              <a:gd name="adj" fmla="val 9724"/>
            </a:avLst>
          </a:prstGeom>
          <a:solidFill>
            <a:srgbClr val="141312"/>
          </a:solidFill>
          <a:ln w="12700">
            <a:solidFill>
              <a:srgbClr val="141312"/>
            </a:solidFill>
            <a:prstDash val="solid"/>
          </a:ln>
          <a:effectLst>
            <a:outerShdw sx="100000" sy="100000" kx="0" ky="0" algn="bl" rotWithShape="0" blurRad="101600" dist="38100" dir="5400000">
              <a:srgbClr val="000000">
                <a:alpha val="25000"/>
              </a:srgbClr>
            </a:outerShdw>
          </a:effectLst>
        </p:spPr>
      </p:sp>
      <p:pic>
        <p:nvPicPr>
          <p:cNvPr id="7" name="Image 1" descr="Screenshot: profile photos phone">    </p:cNvPr>
          <p:cNvPicPr>
            <a:picLocks noChangeAspect="1"/>
          </p:cNvPicPr>
          <p:nvPr/>
        </p:nvPicPr>
        <p:blipFill>
          <a:blip r:embed="rId2"/>
          <a:stretch>
            <a:fillRect/>
          </a:stretch>
        </p:blipFill>
        <p:spPr>
          <a:xfrm>
            <a:off x="3246120" y="1417320"/>
            <a:ext cx="1922515" cy="4160520"/>
          </a:xfrm>
          <a:prstGeom prst="rect">
            <a:avLst/>
          </a:prstGeom>
        </p:spPr>
      </p:pic>
      <p:sp>
        <p:nvSpPr>
          <p:cNvPr id="8" name="Text 4"/>
          <p:cNvSpPr txBox="1"/>
          <p:nvPr/>
        </p:nvSpPr>
        <p:spPr>
          <a:xfrm>
            <a:off x="3154680" y="5669280"/>
            <a:ext cx="2103120" cy="365760"/>
          </a:xfrm>
          <a:prstGeom prst="rect">
            <a:avLst/>
          </a:prstGeom>
          <a:noFill/>
          <a:ln/>
        </p:spPr>
        <p:txBody>
          <a:bodyPr wrap="square" lIns="0" tIns="0" rIns="0" bIns="0" rtlCol="0" anchor="t"/>
          <a:lstStyle/>
          <a:p>
            <a:pPr algn="ctr" indent="0" marL="0">
              <a:buNone/>
            </a:pPr>
            <a:r>
              <a:rPr lang="en-US" sz="1400" b="1" dirty="0">
                <a:solidFill>
                  <a:srgbClr val="141312"/>
                </a:solidFill>
                <a:latin typeface="Arial" pitchFamily="34" charset="0"/>
                <a:ea typeface="Arial" pitchFamily="34" charset="-122"/>
                <a:cs typeface="Arial" pitchFamily="34" charset="-120"/>
              </a:rPr>
              <a:t>Photos</a:t>
            </a:r>
            <a:endParaRPr lang="en-US" sz="1400" dirty="0"/>
          </a:p>
        </p:txBody>
      </p:sp>
      <p:sp>
        <p:nvSpPr>
          <p:cNvPr id="9" name="Shape 5"/>
          <p:cNvSpPr/>
          <p:nvPr/>
        </p:nvSpPr>
        <p:spPr>
          <a:xfrm>
            <a:off x="5687568" y="1344168"/>
            <a:ext cx="2068819" cy="4306824"/>
          </a:xfrm>
          <a:prstGeom prst="roundRect">
            <a:avLst>
              <a:gd name="adj" fmla="val 9724"/>
            </a:avLst>
          </a:prstGeom>
          <a:solidFill>
            <a:srgbClr val="141312"/>
          </a:solidFill>
          <a:ln w="12700">
            <a:solidFill>
              <a:srgbClr val="141312"/>
            </a:solidFill>
            <a:prstDash val="solid"/>
          </a:ln>
          <a:effectLst>
            <a:outerShdw sx="100000" sy="100000" kx="0" ky="0" algn="bl" rotWithShape="0" blurRad="101600" dist="38100" dir="5400000">
              <a:srgbClr val="000000">
                <a:alpha val="25000"/>
              </a:srgbClr>
            </a:outerShdw>
          </a:effectLst>
        </p:spPr>
      </p:sp>
      <p:pic>
        <p:nvPicPr>
          <p:cNvPr id="10" name="Image 2" descr="Screenshot: profile cuisines phone">    </p:cNvPr>
          <p:cNvPicPr>
            <a:picLocks noChangeAspect="1"/>
          </p:cNvPicPr>
          <p:nvPr/>
        </p:nvPicPr>
        <p:blipFill>
          <a:blip r:embed="rId3"/>
          <a:stretch>
            <a:fillRect/>
          </a:stretch>
        </p:blipFill>
        <p:spPr>
          <a:xfrm>
            <a:off x="5760720" y="1417320"/>
            <a:ext cx="1922515" cy="4160520"/>
          </a:xfrm>
          <a:prstGeom prst="rect">
            <a:avLst/>
          </a:prstGeom>
        </p:spPr>
      </p:pic>
      <p:sp>
        <p:nvSpPr>
          <p:cNvPr id="11" name="Text 6"/>
          <p:cNvSpPr txBox="1"/>
          <p:nvPr/>
        </p:nvSpPr>
        <p:spPr>
          <a:xfrm>
            <a:off x="5669280" y="5669280"/>
            <a:ext cx="2103120" cy="365760"/>
          </a:xfrm>
          <a:prstGeom prst="rect">
            <a:avLst/>
          </a:prstGeom>
          <a:noFill/>
          <a:ln/>
        </p:spPr>
        <p:txBody>
          <a:bodyPr wrap="square" lIns="0" tIns="0" rIns="0" bIns="0" rtlCol="0" anchor="t"/>
          <a:lstStyle/>
          <a:p>
            <a:pPr algn="ctr" indent="0" marL="0">
              <a:buNone/>
            </a:pPr>
            <a:r>
              <a:rPr lang="en-US" sz="1400" b="1" dirty="0">
                <a:solidFill>
                  <a:srgbClr val="141312"/>
                </a:solidFill>
                <a:latin typeface="Arial" pitchFamily="34" charset="0"/>
                <a:ea typeface="Arial" pitchFamily="34" charset="-122"/>
                <a:cs typeface="Arial" pitchFamily="34" charset="-120"/>
              </a:rPr>
              <a:t>Cuisines and areas</a:t>
            </a:r>
            <a:endParaRPr lang="en-US" sz="1400" dirty="0"/>
          </a:p>
        </p:txBody>
      </p:sp>
      <p:sp>
        <p:nvSpPr>
          <p:cNvPr id="12" name="Text 7"/>
          <p:cNvSpPr txBox="1"/>
          <p:nvPr/>
        </p:nvSpPr>
        <p:spPr>
          <a:xfrm>
            <a:off x="8229600" y="1463040"/>
            <a:ext cx="3383280" cy="2743200"/>
          </a:xfrm>
          <a:prstGeom prst="rect">
            <a:avLst/>
          </a:prstGeom>
          <a:noFill/>
          <a:ln/>
        </p:spPr>
        <p:txBody>
          <a:bodyPr wrap="square" lIns="0" tIns="0" rIns="0" bIns="0" rtlCol="0" anchor="t"/>
          <a:lstStyle/>
          <a:p>
            <a:pPr indent="0" marL="0">
              <a:buNone/>
            </a:pPr>
            <a:r>
              <a:rPr lang="en-US" sz="1800" dirty="0">
                <a:solidFill>
                  <a:srgbClr val="141312"/>
                </a:solidFill>
                <a:latin typeface="Arial" pitchFamily="34" charset="0"/>
                <a:ea typeface="Arial" pitchFamily="34" charset="-122"/>
                <a:cs typeface="Arial" pitchFamily="34" charset="-120"/>
              </a:rPr>
              <a:t>Your page saves as you go. A checklist shows what is left. When it is complete, you send it in and our team reviews it within 3 business days.</a:t>
            </a:r>
            <a:endParaRPr lang="en-US" sz="1800" dirty="0"/>
          </a:p>
        </p:txBody>
      </p:sp>
      <p:sp>
        <p:nvSpPr>
          <p:cNvPr id="25" name="Slide Number Placeholder 0"/>
          <p:cNvSpPr>
            <a:spLocks noGrp="1"/>
          </p:cNvSpPr>
          <p:nvPr>
            <p:ph type="sldNum" sz="quarter" idx="4294967295"/>
          </p:nvPr>
        </p:nvSpPr>
        <p:spPr>
          <a:xfrm>
            <a:off x="11185855" y="6217920"/>
            <a:ext cx="457200" cy="365760"/>
          </a:xfrm>
          <a:prstGeom prst="rect">
            <a:avLst/>
          </a:prstGeom>
          <a:extLst>
            <a:ext uri="{C572A759-6A51-4108-AA02-DFA0A04FC94B}">
              <ma14:wrappingTextBoxFlag xmlns:ma14="http://schemas.microsoft.com/office/mac/drawingml/2011/main" val="0"/>
            </a:ext>
          </a:extLst>
        </p:spPr>
        <p:txBody>
          <a:bodyPr/>
          <a:lstStyle>
            <a:lvl1pPr>
              <a:defRPr sz="1100">
                <a:solidFill>
                  <a:srgbClr val="6B6863"/>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600" b="1" dirty="0">
                <a:solidFill>
                  <a:srgbClr val="141312"/>
                </a:solidFill>
                <a:latin typeface="Arial" pitchFamily="34" charset="0"/>
                <a:ea typeface="Arial" pitchFamily="34" charset="-122"/>
                <a:cs typeface="Arial" pitchFamily="34" charset="-120"/>
              </a:rPr>
              <a:t>Your kitchen, your rules</a:t>
            </a:r>
            <a:endParaRPr lang="en-US" sz="3600" dirty="0"/>
          </a:p>
        </p:txBody>
      </p:sp>
      <p:sp>
        <p:nvSpPr>
          <p:cNvPr id="3" name="Shape 1"/>
          <p:cNvSpPr/>
          <p:nvPr/>
        </p:nvSpPr>
        <p:spPr>
          <a:xfrm>
            <a:off x="548640" y="1554480"/>
            <a:ext cx="3474720" cy="3566160"/>
          </a:xfrm>
          <a:prstGeom prst="roundRect">
            <a:avLst>
              <a:gd name="adj" fmla="val 5263"/>
            </a:avLst>
          </a:prstGeom>
          <a:solidFill>
            <a:srgbClr val="F7F5F2"/>
          </a:solidFill>
          <a:ln w="12700">
            <a:solidFill>
              <a:srgbClr val="F7F5F2"/>
            </a:solidFill>
            <a:prstDash val="solid"/>
          </a:ln>
        </p:spPr>
      </p:sp>
      <p:sp>
        <p:nvSpPr>
          <p:cNvPr id="4" name="Text 2"/>
          <p:cNvSpPr txBox="1"/>
          <p:nvPr/>
        </p:nvSpPr>
        <p:spPr>
          <a:xfrm>
            <a:off x="868680" y="1874520"/>
            <a:ext cx="2834640" cy="1280160"/>
          </a:xfrm>
          <a:prstGeom prst="rect">
            <a:avLst/>
          </a:prstGeom>
          <a:noFill/>
          <a:ln/>
        </p:spPr>
        <p:txBody>
          <a:bodyPr wrap="square" lIns="0" tIns="0" rIns="0" bIns="0" rtlCol="0" anchor="t"/>
          <a:lstStyle/>
          <a:p>
            <a:pPr indent="0" marL="0">
              <a:buNone/>
            </a:pPr>
            <a:r>
              <a:rPr lang="en-US" sz="2400" b="1" dirty="0">
                <a:solidFill>
                  <a:srgbClr val="141312"/>
                </a:solidFill>
                <a:latin typeface="Arial" pitchFamily="34" charset="0"/>
                <a:ea typeface="Arial" pitchFamily="34" charset="-122"/>
                <a:cs typeface="Arial" pitchFamily="34" charset="-120"/>
              </a:rPr>
              <a:t>Free to list</a:t>
            </a:r>
            <a:endParaRPr lang="en-US" sz="2400" dirty="0"/>
          </a:p>
        </p:txBody>
      </p:sp>
      <p:sp>
        <p:nvSpPr>
          <p:cNvPr id="5" name="Text 3"/>
          <p:cNvSpPr txBox="1"/>
          <p:nvPr/>
        </p:nvSpPr>
        <p:spPr>
          <a:xfrm>
            <a:off x="868680" y="3246120"/>
            <a:ext cx="2834640" cy="1737360"/>
          </a:xfrm>
          <a:prstGeom prst="rect">
            <a:avLst/>
          </a:prstGeom>
          <a:noFill/>
          <a:ln/>
        </p:spPr>
        <p:txBody>
          <a:bodyPr wrap="square" lIns="0" tIns="0" rIns="0" bIns="0" rtlCol="0" anchor="t"/>
          <a:lstStyle/>
          <a:p>
            <a:pPr indent="0" marL="0">
              <a:buNone/>
            </a:pPr>
            <a:r>
              <a:rPr lang="en-US" sz="1600" dirty="0">
                <a:solidFill>
                  <a:srgbClr val="4D4B48"/>
                </a:solidFill>
                <a:latin typeface="Arial" pitchFamily="34" charset="0"/>
                <a:ea typeface="Arial" pitchFamily="34" charset="-122"/>
                <a:cs typeface="Arial" pitchFamily="34" charset="-120"/>
              </a:rPr>
              <a:t>No listing fee and no commission. You agree the price with your customer.</a:t>
            </a:r>
            <a:endParaRPr lang="en-US" sz="1600" dirty="0"/>
          </a:p>
        </p:txBody>
      </p:sp>
      <p:sp>
        <p:nvSpPr>
          <p:cNvPr id="6" name="Shape 4"/>
          <p:cNvSpPr/>
          <p:nvPr/>
        </p:nvSpPr>
        <p:spPr>
          <a:xfrm>
            <a:off x="4297680" y="1554480"/>
            <a:ext cx="3474720" cy="3566160"/>
          </a:xfrm>
          <a:prstGeom prst="roundRect">
            <a:avLst>
              <a:gd name="adj" fmla="val 5263"/>
            </a:avLst>
          </a:prstGeom>
          <a:solidFill>
            <a:srgbClr val="F7F5F2"/>
          </a:solidFill>
          <a:ln w="12700">
            <a:solidFill>
              <a:srgbClr val="F7F5F2"/>
            </a:solidFill>
            <a:prstDash val="solid"/>
          </a:ln>
        </p:spPr>
      </p:sp>
      <p:sp>
        <p:nvSpPr>
          <p:cNvPr id="7" name="Text 5"/>
          <p:cNvSpPr txBox="1"/>
          <p:nvPr/>
        </p:nvSpPr>
        <p:spPr>
          <a:xfrm>
            <a:off x="4617720" y="1874520"/>
            <a:ext cx="2834640" cy="1280160"/>
          </a:xfrm>
          <a:prstGeom prst="rect">
            <a:avLst/>
          </a:prstGeom>
          <a:noFill/>
          <a:ln/>
        </p:spPr>
        <p:txBody>
          <a:bodyPr wrap="square" lIns="0" tIns="0" rIns="0" bIns="0" rtlCol="0" anchor="t"/>
          <a:lstStyle/>
          <a:p>
            <a:pPr indent="0" marL="0">
              <a:buNone/>
            </a:pPr>
            <a:r>
              <a:rPr lang="en-US" sz="2400" b="1" dirty="0">
                <a:solidFill>
                  <a:srgbClr val="141312"/>
                </a:solidFill>
                <a:latin typeface="Arial" pitchFamily="34" charset="0"/>
                <a:ea typeface="Arial" pitchFamily="34" charset="-122"/>
                <a:cs typeface="Arial" pitchFamily="34" charset="-120"/>
              </a:rPr>
              <a:t>You set the menu, the batches and the days</a:t>
            </a:r>
            <a:endParaRPr lang="en-US" sz="2400" dirty="0"/>
          </a:p>
        </p:txBody>
      </p:sp>
      <p:sp>
        <p:nvSpPr>
          <p:cNvPr id="8" name="Text 6"/>
          <p:cNvSpPr txBox="1"/>
          <p:nvPr/>
        </p:nvSpPr>
        <p:spPr>
          <a:xfrm>
            <a:off x="4617720" y="3246120"/>
            <a:ext cx="2834640" cy="1737360"/>
          </a:xfrm>
          <a:prstGeom prst="rect">
            <a:avLst/>
          </a:prstGeom>
          <a:noFill/>
          <a:ln/>
        </p:spPr>
        <p:txBody>
          <a:bodyPr wrap="square" lIns="0" tIns="0" rIns="0" bIns="0" rtlCol="0" anchor="t"/>
          <a:lstStyle/>
          <a:p>
            <a:pPr indent="0" marL="0">
              <a:buNone/>
            </a:pPr>
            <a:r>
              <a:rPr lang="en-US" sz="1600" dirty="0">
                <a:solidFill>
                  <a:srgbClr val="4D4B48"/>
                </a:solidFill>
                <a:latin typeface="Arial" pitchFamily="34" charset="0"/>
                <a:ea typeface="Arial" pitchFamily="34" charset="-122"/>
                <a:cs typeface="Arial" pitchFamily="34" charset="-120"/>
              </a:rPr>
              <a:t>You decide what you cook, how much, and which enquiries you take.</a:t>
            </a:r>
            <a:endParaRPr lang="en-US" sz="1600" dirty="0"/>
          </a:p>
        </p:txBody>
      </p:sp>
      <p:sp>
        <p:nvSpPr>
          <p:cNvPr id="9" name="Shape 7"/>
          <p:cNvSpPr/>
          <p:nvPr/>
        </p:nvSpPr>
        <p:spPr>
          <a:xfrm>
            <a:off x="8046720" y="1554480"/>
            <a:ext cx="3474720" cy="3566160"/>
          </a:xfrm>
          <a:prstGeom prst="roundRect">
            <a:avLst>
              <a:gd name="adj" fmla="val 5263"/>
            </a:avLst>
          </a:prstGeom>
          <a:solidFill>
            <a:srgbClr val="F7F5F2"/>
          </a:solidFill>
          <a:ln w="12700">
            <a:solidFill>
              <a:srgbClr val="F7F5F2"/>
            </a:solidFill>
            <a:prstDash val="solid"/>
          </a:ln>
        </p:spPr>
      </p:sp>
      <p:sp>
        <p:nvSpPr>
          <p:cNvPr id="10" name="Text 8"/>
          <p:cNvSpPr txBox="1"/>
          <p:nvPr/>
        </p:nvSpPr>
        <p:spPr>
          <a:xfrm>
            <a:off x="8366760" y="1874520"/>
            <a:ext cx="2834640" cy="1280160"/>
          </a:xfrm>
          <a:prstGeom prst="rect">
            <a:avLst/>
          </a:prstGeom>
          <a:noFill/>
          <a:ln/>
        </p:spPr>
        <p:txBody>
          <a:bodyPr wrap="square" lIns="0" tIns="0" rIns="0" bIns="0" rtlCol="0" anchor="t"/>
          <a:lstStyle/>
          <a:p>
            <a:pPr indent="0" marL="0">
              <a:buNone/>
            </a:pPr>
            <a:r>
              <a:rPr lang="en-US" sz="2400" b="1" dirty="0">
                <a:solidFill>
                  <a:srgbClr val="141312"/>
                </a:solidFill>
                <a:latin typeface="Arial" pitchFamily="34" charset="0"/>
                <a:ea typeface="Arial" pitchFamily="34" charset="-122"/>
                <a:cs typeface="Arial" pitchFamily="34" charset="-120"/>
              </a:rPr>
              <a:t>Your home address stays private</a:t>
            </a:r>
            <a:endParaRPr lang="en-US" sz="2400" dirty="0"/>
          </a:p>
        </p:txBody>
      </p:sp>
      <p:sp>
        <p:nvSpPr>
          <p:cNvPr id="11" name="Text 9"/>
          <p:cNvSpPr txBox="1"/>
          <p:nvPr/>
        </p:nvSpPr>
        <p:spPr>
          <a:xfrm>
            <a:off x="8366760" y="3246120"/>
            <a:ext cx="2834640" cy="1737360"/>
          </a:xfrm>
          <a:prstGeom prst="rect">
            <a:avLst/>
          </a:prstGeom>
          <a:noFill/>
          <a:ln/>
        </p:spPr>
        <p:txBody>
          <a:bodyPr wrap="square" lIns="0" tIns="0" rIns="0" bIns="0" rtlCol="0" anchor="t"/>
          <a:lstStyle/>
          <a:p>
            <a:pPr indent="0" marL="0">
              <a:buNone/>
            </a:pPr>
            <a:r>
              <a:rPr lang="en-US" sz="1600" dirty="0">
                <a:solidFill>
                  <a:srgbClr val="4D4B48"/>
                </a:solidFill>
                <a:latin typeface="Arial" pitchFamily="34" charset="0"/>
                <a:ea typeface="Arial" pitchFamily="34" charset="-122"/>
                <a:cs typeface="Arial" pitchFamily="34" charset="-120"/>
              </a:rPr>
              <a:t>People see the areas you serve, never your address. Your phone and email stay private until you share them.</a:t>
            </a:r>
            <a:endParaRPr lang="en-US" sz="1600" dirty="0"/>
          </a:p>
        </p:txBody>
      </p:sp>
      <p:sp>
        <p:nvSpPr>
          <p:cNvPr id="12" name="Text 10"/>
          <p:cNvSpPr txBox="1"/>
          <p:nvPr/>
        </p:nvSpPr>
        <p:spPr>
          <a:xfrm>
            <a:off x="548640" y="5394960"/>
            <a:ext cx="10972800" cy="457200"/>
          </a:xfrm>
          <a:prstGeom prst="rect">
            <a:avLst/>
          </a:prstGeom>
          <a:noFill/>
          <a:ln/>
        </p:spPr>
        <p:txBody>
          <a:bodyPr wrap="square" lIns="0" tIns="0" rIns="0" bIns="0" rtlCol="0" anchor="t"/>
          <a:lstStyle/>
          <a:p>
            <a:pPr indent="0" marL="0">
              <a:buNone/>
            </a:pPr>
            <a:r>
              <a:rPr lang="en-US" sz="1400" dirty="0">
                <a:solidFill>
                  <a:srgbClr val="6B6863"/>
                </a:solidFill>
                <a:latin typeface="Arial" pitchFamily="34" charset="0"/>
                <a:ea typeface="Arial" pitchFamily="34" charset="-122"/>
                <a:cs typeface="Arial" pitchFamily="34" charset="-120"/>
              </a:rPr>
              <a:t>Food handler details are your own statement: only you and the Sweet Hand team see your certificate.</a:t>
            </a:r>
            <a:endParaRPr lang="en-US" sz="1400" dirty="0"/>
          </a:p>
        </p:txBody>
      </p:sp>
      <p:sp>
        <p:nvSpPr>
          <p:cNvPr id="25" name="Slide Number Placeholder 0"/>
          <p:cNvSpPr>
            <a:spLocks noGrp="1"/>
          </p:cNvSpPr>
          <p:nvPr>
            <p:ph type="sldNum" sz="quarter" idx="4294967295"/>
          </p:nvPr>
        </p:nvSpPr>
        <p:spPr>
          <a:xfrm>
            <a:off x="11185855" y="6217920"/>
            <a:ext cx="457200" cy="365760"/>
          </a:xfrm>
          <a:prstGeom prst="rect">
            <a:avLst/>
          </a:prstGeom>
          <a:extLst>
            <a:ext uri="{C572A759-6A51-4108-AA02-DFA0A04FC94B}">
              <ma14:wrappingTextBoxFlag xmlns:ma14="http://schemas.microsoft.com/office/mac/drawingml/2011/main" val="0"/>
            </a:ext>
          </a:extLst>
        </p:spPr>
        <p:txBody>
          <a:bodyPr/>
          <a:lstStyle>
            <a:lvl1pPr>
              <a:defRPr sz="1100">
                <a:solidFill>
                  <a:srgbClr val="6B6863"/>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463040"/>
            <a:ext cx="4572000" cy="2011680"/>
          </a:xfrm>
          <a:prstGeom prst="rect">
            <a:avLst/>
          </a:prstGeom>
          <a:noFill/>
          <a:ln/>
        </p:spPr>
        <p:txBody>
          <a:bodyPr wrap="square" lIns="0" tIns="0" rIns="0" bIns="0" rtlCol="0" anchor="t"/>
          <a:lstStyle/>
          <a:p>
            <a:pPr indent="0" marL="0">
              <a:buNone/>
            </a:pPr>
            <a:r>
              <a:rPr lang="en-US" sz="15000" b="1" dirty="0">
                <a:solidFill>
                  <a:srgbClr val="C94A2F"/>
                </a:solidFill>
                <a:latin typeface="Arial" pitchFamily="34" charset="0"/>
                <a:ea typeface="Arial" pitchFamily="34" charset="-122"/>
                <a:cs typeface="Arial" pitchFamily="34" charset="-120"/>
              </a:rPr>
              <a:t>100</a:t>
            </a:r>
            <a:endParaRPr lang="en-US" sz="15000" dirty="0"/>
          </a:p>
        </p:txBody>
      </p:sp>
      <p:sp>
        <p:nvSpPr>
          <p:cNvPr id="3" name="Text 1"/>
          <p:cNvSpPr txBox="1"/>
          <p:nvPr/>
        </p:nvSpPr>
        <p:spPr>
          <a:xfrm>
            <a:off x="548640" y="3611880"/>
            <a:ext cx="4754880" cy="128016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A free photoshoot for the first 100 caterers who register</a:t>
            </a:r>
            <a:endParaRPr lang="en-US" sz="2600" dirty="0"/>
          </a:p>
        </p:txBody>
      </p:sp>
      <p:sp>
        <p:nvSpPr>
          <p:cNvPr id="4" name="Text 2"/>
          <p:cNvSpPr txBox="1"/>
          <p:nvPr/>
        </p:nvSpPr>
        <p:spPr>
          <a:xfrm>
            <a:off x="6035040" y="1463040"/>
            <a:ext cx="5577840" cy="411480"/>
          </a:xfrm>
          <a:prstGeom prst="rect">
            <a:avLst/>
          </a:prstGeom>
          <a:noFill/>
          <a:ln/>
        </p:spPr>
        <p:txBody>
          <a:bodyPr wrap="square" lIns="0" tIns="0" rIns="0" bIns="0" rtlCol="0" anchor="t"/>
          <a:lstStyle/>
          <a:p>
            <a:pPr indent="0" marL="0">
              <a:buNone/>
            </a:pPr>
            <a:r>
              <a:rPr lang="en-US" sz="1600" b="1" dirty="0">
                <a:solidFill>
                  <a:srgbClr val="C94A2F"/>
                </a:solidFill>
                <a:latin typeface="Arial" pitchFamily="34" charset="0"/>
                <a:ea typeface="Arial" pitchFamily="34" charset="-122"/>
                <a:cs typeface="Arial" pitchFamily="34" charset="-120"/>
              </a:rPr>
              <a:t>What you get</a:t>
            </a:r>
            <a:endParaRPr lang="en-US" sz="1600" dirty="0"/>
          </a:p>
        </p:txBody>
      </p:sp>
      <p:sp>
        <p:nvSpPr>
          <p:cNvPr id="5" name="Text 3"/>
          <p:cNvSpPr txBox="1"/>
          <p:nvPr/>
        </p:nvSpPr>
        <p:spPr>
          <a:xfrm>
            <a:off x="6035040" y="1874520"/>
            <a:ext cx="5577840" cy="1005840"/>
          </a:xfrm>
          <a:prstGeom prst="rect">
            <a:avLst/>
          </a:prstGeom>
          <a:noFill/>
          <a:ln/>
        </p:spPr>
        <p:txBody>
          <a:bodyPr wrap="square" lIns="0" tIns="0" rIns="0" bIns="0" rtlCol="0" anchor="t"/>
          <a:lstStyle/>
          <a:p>
            <a:pPr indent="0" marL="0">
              <a:buNone/>
            </a:pPr>
            <a:r>
              <a:rPr lang="en-US" sz="1800" dirty="0">
                <a:solidFill>
                  <a:srgbClr val="FFFFFF"/>
                </a:solidFill>
                <a:latin typeface="Arial" pitchFamily="34" charset="0"/>
                <a:ea typeface="Arial" pitchFamily="34" charset="-122"/>
                <a:cs typeface="Arial" pitchFamily="34" charset="-120"/>
              </a:rPr>
              <a:t>10 of your dishes, shot in our studio in downtown Toronto. About 90 minutes. You bring the food and keep the photos.</a:t>
            </a:r>
            <a:endParaRPr lang="en-US" sz="1800" dirty="0"/>
          </a:p>
        </p:txBody>
      </p:sp>
      <p:sp>
        <p:nvSpPr>
          <p:cNvPr id="6" name="Text 4"/>
          <p:cNvSpPr txBox="1"/>
          <p:nvPr/>
        </p:nvSpPr>
        <p:spPr>
          <a:xfrm>
            <a:off x="6035040" y="2971800"/>
            <a:ext cx="5577840" cy="411480"/>
          </a:xfrm>
          <a:prstGeom prst="rect">
            <a:avLst/>
          </a:prstGeom>
          <a:noFill/>
          <a:ln/>
        </p:spPr>
        <p:txBody>
          <a:bodyPr wrap="square" lIns="0" tIns="0" rIns="0" bIns="0" rtlCol="0" anchor="t"/>
          <a:lstStyle/>
          <a:p>
            <a:pPr indent="0" marL="0">
              <a:buNone/>
            </a:pPr>
            <a:r>
              <a:rPr lang="en-US" sz="1600" b="1" dirty="0">
                <a:solidFill>
                  <a:srgbClr val="C94A2F"/>
                </a:solidFill>
                <a:latin typeface="Arial" pitchFamily="34" charset="0"/>
                <a:ea typeface="Arial" pitchFamily="34" charset="-122"/>
                <a:cs typeface="Arial" pitchFamily="34" charset="-120"/>
              </a:rPr>
              <a:t>What we ask</a:t>
            </a:r>
            <a:endParaRPr lang="en-US" sz="1600" dirty="0"/>
          </a:p>
        </p:txBody>
      </p:sp>
      <p:sp>
        <p:nvSpPr>
          <p:cNvPr id="7" name="Text 5"/>
          <p:cNvSpPr txBox="1"/>
          <p:nvPr/>
        </p:nvSpPr>
        <p:spPr>
          <a:xfrm>
            <a:off x="6035040" y="3383280"/>
            <a:ext cx="5577840" cy="1005840"/>
          </a:xfrm>
          <a:prstGeom prst="rect">
            <a:avLst/>
          </a:prstGeom>
          <a:noFill/>
          <a:ln/>
        </p:spPr>
        <p:txBody>
          <a:bodyPr wrap="square" lIns="0" tIns="0" rIns="0" bIns="0" rtlCol="0" anchor="t"/>
          <a:lstStyle/>
          <a:p>
            <a:pPr indent="0" marL="0">
              <a:buNone/>
            </a:pPr>
            <a:r>
              <a:rPr lang="en-US" sz="1800" dirty="0">
                <a:solidFill>
                  <a:srgbClr val="FFFFFF"/>
                </a:solidFill>
                <a:latin typeface="Arial" pitchFamily="34" charset="0"/>
                <a:ea typeface="Arial" pitchFamily="34" charset="-122"/>
                <a:cs typeface="Arial" pitchFamily="34" charset="-120"/>
              </a:rPr>
              <a:t>A complete profile on Sweet Hand, and a launch-day post on 26 November.</a:t>
            </a:r>
            <a:endParaRPr lang="en-US" sz="1800" dirty="0"/>
          </a:p>
        </p:txBody>
      </p:sp>
      <p:sp>
        <p:nvSpPr>
          <p:cNvPr id="8" name="Text 6"/>
          <p:cNvSpPr txBox="1"/>
          <p:nvPr/>
        </p:nvSpPr>
        <p:spPr>
          <a:xfrm>
            <a:off x="6035040" y="4480560"/>
            <a:ext cx="5577840" cy="411480"/>
          </a:xfrm>
          <a:prstGeom prst="rect">
            <a:avLst/>
          </a:prstGeom>
          <a:noFill/>
          <a:ln/>
        </p:spPr>
        <p:txBody>
          <a:bodyPr wrap="square" lIns="0" tIns="0" rIns="0" bIns="0" rtlCol="0" anchor="t"/>
          <a:lstStyle/>
          <a:p>
            <a:pPr indent="0" marL="0">
              <a:buNone/>
            </a:pPr>
            <a:r>
              <a:rPr lang="en-US" sz="1600" b="1" dirty="0">
                <a:solidFill>
                  <a:srgbClr val="B8B2A8"/>
                </a:solidFill>
                <a:latin typeface="Arial" pitchFamily="34" charset="0"/>
                <a:ea typeface="Arial" pitchFamily="34" charset="-122"/>
                <a:cs typeface="Arial" pitchFamily="34" charset="-120"/>
              </a:rPr>
              <a:t>To confirm</a:t>
            </a:r>
            <a:endParaRPr lang="en-US" sz="1600" dirty="0"/>
          </a:p>
        </p:txBody>
      </p:sp>
      <p:sp>
        <p:nvSpPr>
          <p:cNvPr id="9" name="Text 7"/>
          <p:cNvSpPr txBox="1"/>
          <p:nvPr/>
        </p:nvSpPr>
        <p:spPr>
          <a:xfrm>
            <a:off x="6035040" y="4892040"/>
            <a:ext cx="5577840" cy="1005840"/>
          </a:xfrm>
          <a:prstGeom prst="rect">
            <a:avLst/>
          </a:prstGeom>
          <a:noFill/>
          <a:ln/>
        </p:spPr>
        <p:txBody>
          <a:bodyPr wrap="square" lIns="0" tIns="0" rIns="0" bIns="0" rtlCol="0" anchor="t"/>
          <a:lstStyle/>
          <a:p>
            <a:pPr indent="0" marL="0">
              <a:buNone/>
            </a:pPr>
            <a:r>
              <a:rPr lang="en-US" sz="1800" dirty="0">
                <a:solidFill>
                  <a:srgbClr val="B8B2A8"/>
                </a:solidFill>
                <a:latin typeface="Arial" pitchFamily="34" charset="0"/>
                <a:ea typeface="Arial" pitchFamily="34" charset="-122"/>
                <a:cs typeface="Arial" pitchFamily="34" charset="-120"/>
              </a:rPr>
              <a:t>How "first 100" is counted, the last day to book, and how shoot days are booked. Ask your sales person.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600" b="1" dirty="0">
                <a:solidFill>
                  <a:srgbClr val="141312"/>
                </a:solidFill>
                <a:latin typeface="Arial" pitchFamily="34" charset="0"/>
                <a:ea typeface="Arial" pitchFamily="34" charset="-122"/>
                <a:cs typeface="Arial" pitchFamily="34" charset="-120"/>
              </a:rPr>
              <a:t>Coming ideas we are exploring</a:t>
            </a:r>
            <a:endParaRPr lang="en-US" sz="3600" dirty="0"/>
          </a:p>
        </p:txBody>
      </p:sp>
      <p:sp>
        <p:nvSpPr>
          <p:cNvPr id="3" name="Text 1"/>
          <p:cNvSpPr txBox="1"/>
          <p:nvPr/>
        </p:nvSpPr>
        <p:spPr>
          <a:xfrm>
            <a:off x="548640" y="1280160"/>
            <a:ext cx="7315200" cy="457200"/>
          </a:xfrm>
          <a:prstGeom prst="rect">
            <a:avLst/>
          </a:prstGeom>
          <a:noFill/>
          <a:ln/>
        </p:spPr>
        <p:txBody>
          <a:bodyPr wrap="square" lIns="0" tIns="0" rIns="0" bIns="0" rtlCol="0" anchor="t"/>
          <a:lstStyle/>
          <a:p>
            <a:pPr indent="0" marL="0">
              <a:buNone/>
            </a:pPr>
            <a:r>
              <a:rPr lang="en-US" sz="1800" b="1" dirty="0">
                <a:solidFill>
                  <a:srgbClr val="B5381F"/>
                </a:solidFill>
                <a:latin typeface="Arial" pitchFamily="34" charset="0"/>
                <a:ea typeface="Arial" pitchFamily="34" charset="-122"/>
                <a:cs typeface="Arial" pitchFamily="34" charset="-120"/>
              </a:rPr>
              <a:t>Not promised. Not at launch. No dates.</a:t>
            </a:r>
            <a:endParaRPr lang="en-US" sz="1800" dirty="0"/>
          </a:p>
        </p:txBody>
      </p:sp>
      <p:sp>
        <p:nvSpPr>
          <p:cNvPr id="4" name="Shape 2"/>
          <p:cNvSpPr/>
          <p:nvPr/>
        </p:nvSpPr>
        <p:spPr>
          <a:xfrm>
            <a:off x="548640" y="2011680"/>
            <a:ext cx="5349240" cy="3291840"/>
          </a:xfrm>
          <a:prstGeom prst="roundRect">
            <a:avLst>
              <a:gd name="adj" fmla="val 5556"/>
            </a:avLst>
          </a:prstGeom>
          <a:solidFill>
            <a:srgbClr val="FFFFFF"/>
          </a:solidFill>
          <a:ln w="19050">
            <a:solidFill>
              <a:srgbClr val="E2DED7"/>
            </a:solidFill>
            <a:prstDash val="dash"/>
          </a:ln>
        </p:spPr>
      </p:sp>
      <p:sp>
        <p:nvSpPr>
          <p:cNvPr id="5" name="Shape 3"/>
          <p:cNvSpPr/>
          <p:nvPr/>
        </p:nvSpPr>
        <p:spPr>
          <a:xfrm>
            <a:off x="914400" y="2331720"/>
            <a:ext cx="1371600" cy="384048"/>
          </a:xfrm>
          <a:prstGeom prst="roundRect">
            <a:avLst>
              <a:gd name="adj" fmla="val 50000"/>
            </a:avLst>
          </a:prstGeom>
          <a:solidFill>
            <a:srgbClr val="F7F5F2"/>
          </a:solidFill>
          <a:ln w="12700">
            <a:solidFill>
              <a:srgbClr val="F7F5F2"/>
            </a:solidFill>
            <a:prstDash val="solid"/>
          </a:ln>
        </p:spPr>
      </p:sp>
      <p:sp>
        <p:nvSpPr>
          <p:cNvPr id="6" name="Text 4"/>
          <p:cNvSpPr txBox="1"/>
          <p:nvPr/>
        </p:nvSpPr>
        <p:spPr>
          <a:xfrm>
            <a:off x="914400" y="2331720"/>
            <a:ext cx="1371600" cy="384048"/>
          </a:xfrm>
          <a:prstGeom prst="rect">
            <a:avLst/>
          </a:prstGeom>
          <a:noFill/>
          <a:ln/>
        </p:spPr>
        <p:txBody>
          <a:bodyPr wrap="square" lIns="0" tIns="0" rIns="0" bIns="0" rtlCol="0" anchor="ctr"/>
          <a:lstStyle/>
          <a:p>
            <a:pPr algn="ctr" indent="0" marL="0">
              <a:buNone/>
            </a:pPr>
            <a:r>
              <a:rPr lang="en-US" sz="1400" b="1" dirty="0">
                <a:solidFill>
                  <a:srgbClr val="B5381F"/>
                </a:solidFill>
                <a:latin typeface="Arial" pitchFamily="34" charset="0"/>
                <a:ea typeface="Arial" pitchFamily="34" charset="-122"/>
                <a:cs typeface="Arial" pitchFamily="34" charset="-120"/>
              </a:rPr>
              <a:t>Exploring</a:t>
            </a:r>
            <a:endParaRPr lang="en-US" sz="1400" dirty="0"/>
          </a:p>
        </p:txBody>
      </p:sp>
      <p:sp>
        <p:nvSpPr>
          <p:cNvPr id="7" name="Text 5"/>
          <p:cNvSpPr txBox="1"/>
          <p:nvPr/>
        </p:nvSpPr>
        <p:spPr>
          <a:xfrm>
            <a:off x="914400" y="2926080"/>
            <a:ext cx="4572000" cy="640080"/>
          </a:xfrm>
          <a:prstGeom prst="rect">
            <a:avLst/>
          </a:prstGeom>
          <a:noFill/>
          <a:ln/>
        </p:spPr>
        <p:txBody>
          <a:bodyPr wrap="square" lIns="0" tIns="0" rIns="0" bIns="0" rtlCol="0" anchor="t"/>
          <a:lstStyle/>
          <a:p>
            <a:pPr indent="0" marL="0">
              <a:buNone/>
            </a:pPr>
            <a:r>
              <a:rPr lang="en-US" sz="2800" b="1" dirty="0">
                <a:solidFill>
                  <a:srgbClr val="141312"/>
                </a:solidFill>
                <a:latin typeface="Arial" pitchFamily="34" charset="0"/>
                <a:ea typeface="Arial" pitchFamily="34" charset="-122"/>
                <a:cs typeface="Arial" pitchFamily="34" charset="-120"/>
              </a:rPr>
              <a:t>Delivery</a:t>
            </a:r>
            <a:endParaRPr lang="en-US" sz="2800" dirty="0"/>
          </a:p>
        </p:txBody>
      </p:sp>
      <p:sp>
        <p:nvSpPr>
          <p:cNvPr id="8" name="Text 6"/>
          <p:cNvSpPr txBox="1"/>
          <p:nvPr/>
        </p:nvSpPr>
        <p:spPr>
          <a:xfrm>
            <a:off x="914400" y="3657600"/>
            <a:ext cx="4572000" cy="1463040"/>
          </a:xfrm>
          <a:prstGeom prst="rect">
            <a:avLst/>
          </a:prstGeom>
          <a:noFill/>
          <a:ln/>
        </p:spPr>
        <p:txBody>
          <a:bodyPr wrap="square" lIns="0" tIns="0" rIns="0" bIns="0" rtlCol="0" anchor="t"/>
          <a:lstStyle/>
          <a:p>
            <a:pPr indent="0" marL="0">
              <a:buNone/>
            </a:pPr>
            <a:r>
              <a:rPr lang="en-US" sz="1800" dirty="0">
                <a:solidFill>
                  <a:srgbClr val="4D4B48"/>
                </a:solidFill>
                <a:latin typeface="Arial" pitchFamily="34" charset="0"/>
                <a:ea typeface="Arial" pitchFamily="34" charset="-122"/>
                <a:cs typeface="Arial" pitchFamily="34" charset="-120"/>
              </a:rPr>
              <a:t>We are exploring delivery through a courier partner. At launch, you agree pickup or delivery with each customer yourself.</a:t>
            </a:r>
            <a:endParaRPr lang="en-US" sz="1800" dirty="0"/>
          </a:p>
        </p:txBody>
      </p:sp>
      <p:sp>
        <p:nvSpPr>
          <p:cNvPr id="9" name="Shape 7"/>
          <p:cNvSpPr/>
          <p:nvPr/>
        </p:nvSpPr>
        <p:spPr>
          <a:xfrm>
            <a:off x="6172200" y="2011680"/>
            <a:ext cx="5349240" cy="3291840"/>
          </a:xfrm>
          <a:prstGeom prst="roundRect">
            <a:avLst>
              <a:gd name="adj" fmla="val 5556"/>
            </a:avLst>
          </a:prstGeom>
          <a:solidFill>
            <a:srgbClr val="FFFFFF"/>
          </a:solidFill>
          <a:ln w="19050">
            <a:solidFill>
              <a:srgbClr val="E2DED7"/>
            </a:solidFill>
            <a:prstDash val="dash"/>
          </a:ln>
        </p:spPr>
      </p:sp>
      <p:sp>
        <p:nvSpPr>
          <p:cNvPr id="10" name="Shape 8"/>
          <p:cNvSpPr/>
          <p:nvPr/>
        </p:nvSpPr>
        <p:spPr>
          <a:xfrm>
            <a:off x="6537960" y="2331720"/>
            <a:ext cx="1371600" cy="384048"/>
          </a:xfrm>
          <a:prstGeom prst="roundRect">
            <a:avLst>
              <a:gd name="adj" fmla="val 50000"/>
            </a:avLst>
          </a:prstGeom>
          <a:solidFill>
            <a:srgbClr val="F7F5F2"/>
          </a:solidFill>
          <a:ln w="12700">
            <a:solidFill>
              <a:srgbClr val="F7F5F2"/>
            </a:solidFill>
            <a:prstDash val="solid"/>
          </a:ln>
        </p:spPr>
      </p:sp>
      <p:sp>
        <p:nvSpPr>
          <p:cNvPr id="11" name="Text 9"/>
          <p:cNvSpPr txBox="1"/>
          <p:nvPr/>
        </p:nvSpPr>
        <p:spPr>
          <a:xfrm>
            <a:off x="6537960" y="2331720"/>
            <a:ext cx="1371600" cy="384048"/>
          </a:xfrm>
          <a:prstGeom prst="rect">
            <a:avLst/>
          </a:prstGeom>
          <a:noFill/>
          <a:ln/>
        </p:spPr>
        <p:txBody>
          <a:bodyPr wrap="square" lIns="0" tIns="0" rIns="0" bIns="0" rtlCol="0" anchor="ctr"/>
          <a:lstStyle/>
          <a:p>
            <a:pPr algn="ctr" indent="0" marL="0">
              <a:buNone/>
            </a:pPr>
            <a:r>
              <a:rPr lang="en-US" sz="1400" b="1" dirty="0">
                <a:solidFill>
                  <a:srgbClr val="B5381F"/>
                </a:solidFill>
                <a:latin typeface="Arial" pitchFamily="34" charset="0"/>
                <a:ea typeface="Arial" pitchFamily="34" charset="-122"/>
                <a:cs typeface="Arial" pitchFamily="34" charset="-120"/>
              </a:rPr>
              <a:t>Exploring</a:t>
            </a:r>
            <a:endParaRPr lang="en-US" sz="1400" dirty="0"/>
          </a:p>
        </p:txBody>
      </p:sp>
      <p:sp>
        <p:nvSpPr>
          <p:cNvPr id="12" name="Text 10"/>
          <p:cNvSpPr txBox="1"/>
          <p:nvPr/>
        </p:nvSpPr>
        <p:spPr>
          <a:xfrm>
            <a:off x="6537960" y="2926080"/>
            <a:ext cx="4572000" cy="640080"/>
          </a:xfrm>
          <a:prstGeom prst="rect">
            <a:avLst/>
          </a:prstGeom>
          <a:noFill/>
          <a:ln/>
        </p:spPr>
        <p:txBody>
          <a:bodyPr wrap="square" lIns="0" tIns="0" rIns="0" bIns="0" rtlCol="0" anchor="t"/>
          <a:lstStyle/>
          <a:p>
            <a:pPr indent="0" marL="0">
              <a:buNone/>
            </a:pPr>
            <a:r>
              <a:rPr lang="en-US" sz="2800" b="1" dirty="0">
                <a:solidFill>
                  <a:srgbClr val="141312"/>
                </a:solidFill>
                <a:latin typeface="Arial" pitchFamily="34" charset="0"/>
                <a:ea typeface="Arial" pitchFamily="34" charset="-122"/>
                <a:cs typeface="Arial" pitchFamily="34" charset="-120"/>
              </a:rPr>
              <a:t>Awards</a:t>
            </a:r>
            <a:endParaRPr lang="en-US" sz="2800" dirty="0"/>
          </a:p>
        </p:txBody>
      </p:sp>
      <p:sp>
        <p:nvSpPr>
          <p:cNvPr id="13" name="Text 11"/>
          <p:cNvSpPr txBox="1"/>
          <p:nvPr/>
        </p:nvSpPr>
        <p:spPr>
          <a:xfrm>
            <a:off x="6537960" y="3657600"/>
            <a:ext cx="4572000" cy="1463040"/>
          </a:xfrm>
          <a:prstGeom prst="rect">
            <a:avLst/>
          </a:prstGeom>
          <a:noFill/>
          <a:ln/>
        </p:spPr>
        <p:txBody>
          <a:bodyPr wrap="square" lIns="0" tIns="0" rIns="0" bIns="0" rtlCol="0" anchor="t"/>
          <a:lstStyle/>
          <a:p>
            <a:pPr indent="0" marL="0">
              <a:buNone/>
            </a:pPr>
            <a:r>
              <a:rPr lang="en-US" sz="1800" dirty="0">
                <a:solidFill>
                  <a:srgbClr val="4D4B48"/>
                </a:solidFill>
                <a:latin typeface="Arial" pitchFamily="34" charset="0"/>
                <a:ea typeface="Arial" pitchFamily="34" charset="-122"/>
                <a:cs typeface="Arial" pitchFamily="34" charset="-120"/>
              </a:rPr>
              <a:t>We are exploring awards, for example "GTA’s Best Jerk Chicken". No categories, rules or dates yet.</a:t>
            </a:r>
            <a:endParaRPr lang="en-US" sz="1800" dirty="0"/>
          </a:p>
        </p:txBody>
      </p:sp>
      <p:sp>
        <p:nvSpPr>
          <p:cNvPr id="14" name="Text 12"/>
          <p:cNvSpPr txBox="1"/>
          <p:nvPr/>
        </p:nvSpPr>
        <p:spPr>
          <a:xfrm>
            <a:off x="548640" y="5532120"/>
            <a:ext cx="7315200" cy="411480"/>
          </a:xfrm>
          <a:prstGeom prst="rect">
            <a:avLst/>
          </a:prstGeom>
          <a:noFill/>
          <a:ln/>
        </p:spPr>
        <p:txBody>
          <a:bodyPr wrap="square" lIns="0" tIns="0" rIns="0" bIns="0" rtlCol="0" anchor="t"/>
          <a:lstStyle/>
          <a:p>
            <a:pPr indent="0" marL="0">
              <a:buNone/>
            </a:pPr>
            <a:r>
              <a:rPr lang="en-US" sz="1600" dirty="0">
                <a:solidFill>
                  <a:srgbClr val="6B6863"/>
                </a:solidFill>
                <a:latin typeface="Arial" pitchFamily="34" charset="0"/>
                <a:ea typeface="Arial" pitchFamily="34" charset="-122"/>
                <a:cs typeface="Arial" pitchFamily="34" charset="-120"/>
              </a:rPr>
              <a:t>Follow the Facebook Page to hear first.</a:t>
            </a:r>
            <a:endParaRPr lang="en-US" sz="1600" dirty="0"/>
          </a:p>
        </p:txBody>
      </p:sp>
      <p:sp>
        <p:nvSpPr>
          <p:cNvPr id="25" name="Slide Number Placeholder 0"/>
          <p:cNvSpPr>
            <a:spLocks noGrp="1"/>
          </p:cNvSpPr>
          <p:nvPr>
            <p:ph type="sldNum" sz="quarter" idx="4294967295"/>
          </p:nvPr>
        </p:nvSpPr>
        <p:spPr>
          <a:xfrm>
            <a:off x="11185855" y="6217920"/>
            <a:ext cx="457200" cy="365760"/>
          </a:xfrm>
          <a:prstGeom prst="rect">
            <a:avLst/>
          </a:prstGeom>
          <a:extLst>
            <a:ext uri="{C572A759-6A51-4108-AA02-DFA0A04FC94B}">
              <ma14:wrappingTextBoxFlag xmlns:ma14="http://schemas.microsoft.com/office/mac/drawingml/2011/main" val="0"/>
            </a:ext>
          </a:extLst>
        </p:spPr>
        <p:txBody>
          <a:bodyPr/>
          <a:lstStyle>
            <a:lvl1pPr>
              <a:defRPr sz="1100">
                <a:solidFill>
                  <a:srgbClr val="6B6863"/>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286000"/>
            <a:ext cx="10972800" cy="640080"/>
          </a:xfrm>
          <a:prstGeom prst="rect">
            <a:avLst/>
          </a:prstGeom>
          <a:noFill/>
          <a:ln/>
        </p:spPr>
        <p:txBody>
          <a:bodyPr wrap="square" lIns="0" tIns="0" rIns="0" bIns="0" rtlCol="0" anchor="t"/>
          <a:lstStyle/>
          <a:p>
            <a:pPr indent="0" marL="0">
              <a:buNone/>
            </a:pPr>
            <a:r>
              <a:rPr lang="en-US" sz="2800" dirty="0">
                <a:solidFill>
                  <a:srgbClr val="B8B2A8"/>
                </a:solidFill>
                <a:latin typeface="Arial" pitchFamily="34" charset="0"/>
                <a:ea typeface="Arial" pitchFamily="34" charset="-122"/>
                <a:cs typeface="Arial" pitchFamily="34" charset="-120"/>
              </a:rPr>
              <a:t>Opens</a:t>
            </a:r>
            <a:endParaRPr lang="en-US" sz="2800" dirty="0"/>
          </a:p>
        </p:txBody>
      </p:sp>
      <p:sp>
        <p:nvSpPr>
          <p:cNvPr id="3" name="Text 1"/>
          <p:cNvSpPr txBox="1"/>
          <p:nvPr/>
        </p:nvSpPr>
        <p:spPr>
          <a:xfrm>
            <a:off x="548640" y="2926080"/>
            <a:ext cx="10972800" cy="1097280"/>
          </a:xfrm>
          <a:prstGeom prst="rect">
            <a:avLst/>
          </a:prstGeom>
          <a:noFill/>
          <a:ln/>
        </p:spPr>
        <p:txBody>
          <a:bodyPr wrap="square" lIns="0" tIns="0" rIns="0" bIns="0" rtlCol="0" anchor="t"/>
          <a:lstStyle/>
          <a:p>
            <a:pPr indent="0" marL="0">
              <a:buNone/>
            </a:pPr>
            <a:r>
              <a:rPr lang="en-US" sz="6000" b="1" dirty="0">
                <a:solidFill>
                  <a:srgbClr val="FFFFFF"/>
                </a:solidFill>
                <a:latin typeface="Arial" pitchFamily="34" charset="0"/>
                <a:ea typeface="Arial" pitchFamily="34" charset="-122"/>
                <a:cs typeface="Arial" pitchFamily="34" charset="-120"/>
              </a:rPr>
              <a:t>Thursday 26 November 2026</a:t>
            </a:r>
            <a:endParaRPr lang="en-US" sz="6000" dirty="0"/>
          </a:p>
        </p:txBody>
      </p:sp>
      <p:sp>
        <p:nvSpPr>
          <p:cNvPr id="4" name="Text 2"/>
          <p:cNvSpPr txBox="1"/>
          <p:nvPr/>
        </p:nvSpPr>
        <p:spPr>
          <a:xfrm>
            <a:off x="548640" y="4389120"/>
            <a:ext cx="8686800" cy="1097280"/>
          </a:xfrm>
          <a:prstGeom prst="rect">
            <a:avLst/>
          </a:prstGeom>
          <a:noFill/>
          <a:ln/>
        </p:spPr>
        <p:txBody>
          <a:bodyPr wrap="square" lIns="0" tIns="0" rIns="0" bIns="0" rtlCol="0" anchor="t"/>
          <a:lstStyle/>
          <a:p>
            <a:pPr indent="0" marL="0">
              <a:buNone/>
            </a:pPr>
            <a:r>
              <a:rPr lang="en-US" sz="2000" dirty="0">
                <a:solidFill>
                  <a:srgbClr val="E2DED7"/>
                </a:solidFill>
                <a:latin typeface="Arial" pitchFamily="34" charset="0"/>
                <a:ea typeface="Arial" pitchFamily="34" charset="-122"/>
                <a:cs typeface="Arial" pitchFamily="34" charset="-120"/>
              </a:rPr>
              <a:t>Toronto and the GTA, right before the Christmas orders. Black cake, sorrel, pastelles, ponche de crème: be listed before the rush.</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600" b="1" dirty="0">
                <a:solidFill>
                  <a:srgbClr val="141312"/>
                </a:solidFill>
                <a:latin typeface="Arial" pitchFamily="34" charset="0"/>
                <a:ea typeface="Arial" pitchFamily="34" charset="-122"/>
                <a:cs typeface="Arial" pitchFamily="34" charset="-120"/>
              </a:rPr>
              <a:t>Sign up now: two minutes</a:t>
            </a:r>
            <a:endParaRPr lang="en-US" sz="3600" dirty="0"/>
          </a:p>
        </p:txBody>
      </p:sp>
      <p:pic>
        <p:nvPicPr>
          <p:cNvPr id="3" name="Image 0" descr="QR code for sweethand.ca">    </p:cNvPr>
          <p:cNvPicPr>
            <a:picLocks noChangeAspect="1"/>
          </p:cNvPicPr>
          <p:nvPr/>
        </p:nvPicPr>
        <p:blipFill>
          <a:blip r:embed="rId1"/>
          <a:stretch>
            <a:fillRect/>
          </a:stretch>
        </p:blipFill>
        <p:spPr>
          <a:xfrm>
            <a:off x="548640" y="1463040"/>
            <a:ext cx="2377440" cy="2377440"/>
          </a:xfrm>
          <a:prstGeom prst="rect">
            <a:avLst/>
          </a:prstGeom>
        </p:spPr>
      </p:pic>
      <p:sp>
        <p:nvSpPr>
          <p:cNvPr id="4" name="Text 1"/>
          <p:cNvSpPr txBox="1"/>
          <p:nvPr/>
        </p:nvSpPr>
        <p:spPr>
          <a:xfrm>
            <a:off x="548640" y="3931920"/>
            <a:ext cx="2926080" cy="457200"/>
          </a:xfrm>
          <a:prstGeom prst="rect">
            <a:avLst/>
          </a:prstGeom>
          <a:noFill/>
          <a:ln/>
        </p:spPr>
        <p:txBody>
          <a:bodyPr wrap="square" lIns="0" tIns="0" rIns="0" bIns="0" rtlCol="0" anchor="t"/>
          <a:lstStyle/>
          <a:p>
            <a:pPr indent="0" marL="0">
              <a:buNone/>
            </a:pPr>
            <a:r>
              <a:rPr lang="en-US" sz="2200" b="1" dirty="0">
                <a:solidFill>
                  <a:srgbClr val="141312"/>
                </a:solidFill>
                <a:latin typeface="Arial" pitchFamily="34" charset="0"/>
                <a:ea typeface="Arial" pitchFamily="34" charset="-122"/>
                <a:cs typeface="Arial" pitchFamily="34" charset="-120"/>
              </a:rPr>
              <a:t>sweethand.ca</a:t>
            </a:r>
            <a:endParaRPr lang="en-US" sz="2200" dirty="0"/>
          </a:p>
        </p:txBody>
      </p:sp>
      <p:sp>
        <p:nvSpPr>
          <p:cNvPr id="5" name="Shape 2"/>
          <p:cNvSpPr/>
          <p:nvPr/>
        </p:nvSpPr>
        <p:spPr>
          <a:xfrm>
            <a:off x="3657600" y="1463040"/>
            <a:ext cx="502920" cy="502920"/>
          </a:xfrm>
          <a:prstGeom prst="ellipse">
            <a:avLst/>
          </a:prstGeom>
          <a:solidFill>
            <a:srgbClr val="141312"/>
          </a:solidFill>
          <a:ln w="12700">
            <a:solidFill>
              <a:srgbClr val="141312"/>
            </a:solidFill>
            <a:prstDash val="solid"/>
          </a:ln>
        </p:spPr>
      </p:sp>
      <p:sp>
        <p:nvSpPr>
          <p:cNvPr id="6" name="Text 3"/>
          <p:cNvSpPr txBox="1"/>
          <p:nvPr/>
        </p:nvSpPr>
        <p:spPr>
          <a:xfrm>
            <a:off x="3657600" y="1463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4"/>
          <p:cNvSpPr txBox="1"/>
          <p:nvPr/>
        </p:nvSpPr>
        <p:spPr>
          <a:xfrm>
            <a:off x="4343400" y="1490472"/>
            <a:ext cx="4023360" cy="960120"/>
          </a:xfrm>
          <a:prstGeom prst="rect">
            <a:avLst/>
          </a:prstGeom>
          <a:noFill/>
          <a:ln/>
        </p:spPr>
        <p:txBody>
          <a:bodyPr wrap="square" lIns="0" tIns="0" rIns="0" bIns="0" rtlCol="0" anchor="t"/>
          <a:lstStyle/>
          <a:p>
            <a:pPr indent="0" marL="0">
              <a:buNone/>
            </a:pPr>
            <a:r>
              <a:rPr lang="en-US" sz="1600" dirty="0">
                <a:solidFill>
                  <a:srgbClr val="141312"/>
                </a:solidFill>
                <a:latin typeface="Arial" pitchFamily="34" charset="0"/>
                <a:ea typeface="Arial" pitchFamily="34" charset="-122"/>
                <a:cs typeface="Arial" pitchFamily="34" charset="-120"/>
              </a:rPr>
              <a:t>Scan the code or go to sweethand.ca</a:t>
            </a:r>
            <a:endParaRPr lang="en-US" sz="1600" dirty="0"/>
          </a:p>
        </p:txBody>
      </p:sp>
      <p:sp>
        <p:nvSpPr>
          <p:cNvPr id="8" name="Shape 5"/>
          <p:cNvSpPr/>
          <p:nvPr/>
        </p:nvSpPr>
        <p:spPr>
          <a:xfrm>
            <a:off x="3657600" y="2487168"/>
            <a:ext cx="502920" cy="502920"/>
          </a:xfrm>
          <a:prstGeom prst="ellipse">
            <a:avLst/>
          </a:prstGeom>
          <a:solidFill>
            <a:srgbClr val="141312"/>
          </a:solidFill>
          <a:ln w="12700">
            <a:solidFill>
              <a:srgbClr val="141312"/>
            </a:solidFill>
            <a:prstDash val="solid"/>
          </a:ln>
        </p:spPr>
      </p:sp>
      <p:sp>
        <p:nvSpPr>
          <p:cNvPr id="9" name="Text 6"/>
          <p:cNvSpPr txBox="1"/>
          <p:nvPr/>
        </p:nvSpPr>
        <p:spPr>
          <a:xfrm>
            <a:off x="3657600" y="24871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7"/>
          <p:cNvSpPr txBox="1"/>
          <p:nvPr/>
        </p:nvSpPr>
        <p:spPr>
          <a:xfrm>
            <a:off x="4343400" y="2514600"/>
            <a:ext cx="4023360" cy="960120"/>
          </a:xfrm>
          <a:prstGeom prst="rect">
            <a:avLst/>
          </a:prstGeom>
          <a:noFill/>
          <a:ln/>
        </p:spPr>
        <p:txBody>
          <a:bodyPr wrap="square" lIns="0" tIns="0" rIns="0" bIns="0" rtlCol="0" anchor="t"/>
          <a:lstStyle/>
          <a:p>
            <a:pPr indent="0" marL="0">
              <a:buNone/>
            </a:pPr>
            <a:r>
              <a:rPr lang="en-US" sz="1600" dirty="0">
                <a:solidFill>
                  <a:srgbClr val="141312"/>
                </a:solidFill>
                <a:latin typeface="Arial" pitchFamily="34" charset="0"/>
                <a:ea typeface="Arial" pitchFamily="34" charset="-122"/>
                <a:cs typeface="Arial" pitchFamily="34" charset="-120"/>
              </a:rPr>
              <a:t>Press "Join as a caterer"</a:t>
            </a:r>
            <a:endParaRPr lang="en-US" sz="1600" dirty="0"/>
          </a:p>
        </p:txBody>
      </p:sp>
      <p:sp>
        <p:nvSpPr>
          <p:cNvPr id="11" name="Shape 8"/>
          <p:cNvSpPr/>
          <p:nvPr/>
        </p:nvSpPr>
        <p:spPr>
          <a:xfrm>
            <a:off x="3657600" y="3511296"/>
            <a:ext cx="502920" cy="502920"/>
          </a:xfrm>
          <a:prstGeom prst="ellipse">
            <a:avLst/>
          </a:prstGeom>
          <a:solidFill>
            <a:srgbClr val="141312"/>
          </a:solidFill>
          <a:ln w="12700">
            <a:solidFill>
              <a:srgbClr val="141312"/>
            </a:solidFill>
            <a:prstDash val="solid"/>
          </a:ln>
        </p:spPr>
      </p:sp>
      <p:sp>
        <p:nvSpPr>
          <p:cNvPr id="12" name="Text 9"/>
          <p:cNvSpPr txBox="1"/>
          <p:nvPr/>
        </p:nvSpPr>
        <p:spPr>
          <a:xfrm>
            <a:off x="3657600" y="351129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3" name="Text 10"/>
          <p:cNvSpPr txBox="1"/>
          <p:nvPr/>
        </p:nvSpPr>
        <p:spPr>
          <a:xfrm>
            <a:off x="4343400" y="3538728"/>
            <a:ext cx="4023360" cy="960120"/>
          </a:xfrm>
          <a:prstGeom prst="rect">
            <a:avLst/>
          </a:prstGeom>
          <a:noFill/>
          <a:ln/>
        </p:spPr>
        <p:txBody>
          <a:bodyPr wrap="square" lIns="0" tIns="0" rIns="0" bIns="0" rtlCol="0" anchor="t"/>
          <a:lstStyle/>
          <a:p>
            <a:pPr indent="0" marL="0">
              <a:buNone/>
            </a:pPr>
            <a:r>
              <a:rPr lang="en-US" sz="1600" dirty="0">
                <a:solidFill>
                  <a:srgbClr val="141312"/>
                </a:solidFill>
                <a:latin typeface="Arial" pitchFamily="34" charset="0"/>
                <a:ea typeface="Arial" pitchFamily="34" charset="-122"/>
                <a:cs typeface="Arial" pitchFamily="34" charset="-120"/>
              </a:rPr>
              <a:t>Before 26 November: add your business name and email, then confirm the link we send. We email you once, on launch day.</a:t>
            </a:r>
            <a:endParaRPr lang="en-US" sz="1600" dirty="0"/>
          </a:p>
        </p:txBody>
      </p:sp>
      <p:sp>
        <p:nvSpPr>
          <p:cNvPr id="14" name="Shape 11"/>
          <p:cNvSpPr/>
          <p:nvPr/>
        </p:nvSpPr>
        <p:spPr>
          <a:xfrm>
            <a:off x="3657600" y="4535424"/>
            <a:ext cx="502920" cy="502920"/>
          </a:xfrm>
          <a:prstGeom prst="ellipse">
            <a:avLst/>
          </a:prstGeom>
          <a:solidFill>
            <a:srgbClr val="141312"/>
          </a:solidFill>
          <a:ln w="12700">
            <a:solidFill>
              <a:srgbClr val="141312"/>
            </a:solidFill>
            <a:prstDash val="solid"/>
          </a:ln>
        </p:spPr>
      </p:sp>
      <p:sp>
        <p:nvSpPr>
          <p:cNvPr id="15" name="Text 12"/>
          <p:cNvSpPr txBox="1"/>
          <p:nvPr/>
        </p:nvSpPr>
        <p:spPr>
          <a:xfrm>
            <a:off x="3657600" y="453542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6" name="Text 13"/>
          <p:cNvSpPr txBox="1"/>
          <p:nvPr/>
        </p:nvSpPr>
        <p:spPr>
          <a:xfrm>
            <a:off x="4343400" y="4562856"/>
            <a:ext cx="4023360" cy="960120"/>
          </a:xfrm>
          <a:prstGeom prst="rect">
            <a:avLst/>
          </a:prstGeom>
          <a:noFill/>
          <a:ln/>
        </p:spPr>
        <p:txBody>
          <a:bodyPr wrap="square" lIns="0" tIns="0" rIns="0" bIns="0" rtlCol="0" anchor="t"/>
          <a:lstStyle/>
          <a:p>
            <a:pPr indent="0" marL="0">
              <a:buNone/>
            </a:pPr>
            <a:r>
              <a:rPr lang="en-US" sz="1600" dirty="0">
                <a:solidFill>
                  <a:srgbClr val="141312"/>
                </a:solidFill>
                <a:latin typeface="Arial" pitchFamily="34" charset="0"/>
                <a:ea typeface="Arial" pitchFamily="34" charset="-122"/>
                <a:cs typeface="Arial" pitchFamily="34" charset="-120"/>
              </a:rPr>
              <a:t>From 26 November: create your caterer account and build your page.</a:t>
            </a:r>
            <a:endParaRPr lang="en-US" sz="1600" dirty="0"/>
          </a:p>
        </p:txBody>
      </p:sp>
      <p:sp>
        <p:nvSpPr>
          <p:cNvPr id="17" name="Shape 14"/>
          <p:cNvSpPr/>
          <p:nvPr/>
        </p:nvSpPr>
        <p:spPr>
          <a:xfrm>
            <a:off x="9070848" y="1252728"/>
            <a:ext cx="2322338" cy="4855464"/>
          </a:xfrm>
          <a:prstGeom prst="roundRect">
            <a:avLst>
              <a:gd name="adj" fmla="val 8662"/>
            </a:avLst>
          </a:prstGeom>
          <a:solidFill>
            <a:srgbClr val="141312"/>
          </a:solidFill>
          <a:ln w="12700">
            <a:solidFill>
              <a:srgbClr val="141312"/>
            </a:solidFill>
            <a:prstDash val="solid"/>
          </a:ln>
          <a:effectLst>
            <a:outerShdw sx="100000" sy="100000" kx="0" ky="0" algn="bl" rotWithShape="0" blurRad="101600" dist="38100" dir="5400000">
              <a:srgbClr val="000000">
                <a:alpha val="25000"/>
              </a:srgbClr>
            </a:outerShdw>
          </a:effectLst>
        </p:spPr>
      </p:sp>
      <p:pic>
        <p:nvPicPr>
          <p:cNvPr id="18" name="Image 1" descr="Screenshot: register caterer phone">    </p:cNvPr>
          <p:cNvPicPr>
            <a:picLocks noChangeAspect="1"/>
          </p:cNvPicPr>
          <p:nvPr/>
        </p:nvPicPr>
        <p:blipFill>
          <a:blip r:embed="rId2"/>
          <a:stretch>
            <a:fillRect/>
          </a:stretch>
        </p:blipFill>
        <p:spPr>
          <a:xfrm>
            <a:off x="9144000" y="1325880"/>
            <a:ext cx="2176034" cy="4709160"/>
          </a:xfrm>
          <a:prstGeom prst="rect">
            <a:avLst/>
          </a:prstGeom>
        </p:spPr>
      </p:pic>
      <p:sp>
        <p:nvSpPr>
          <p:cNvPr id="25" name="Slide Number Placeholder 0"/>
          <p:cNvSpPr>
            <a:spLocks noGrp="1"/>
          </p:cNvSpPr>
          <p:nvPr>
            <p:ph type="sldNum" sz="quarter" idx="4294967295"/>
          </p:nvPr>
        </p:nvSpPr>
        <p:spPr>
          <a:xfrm>
            <a:off x="11185855" y="6217920"/>
            <a:ext cx="457200" cy="365760"/>
          </a:xfrm>
          <a:prstGeom prst="rect">
            <a:avLst/>
          </a:prstGeom>
          <a:extLst>
            <a:ext uri="{C572A759-6A51-4108-AA02-DFA0A04FC94B}">
              <ma14:wrappingTextBoxFlag xmlns:ma14="http://schemas.microsoft.com/office/mac/drawingml/2011/main" val="0"/>
            </a:ext>
          </a:extLst>
        </p:spPr>
        <p:txBody>
          <a:bodyPr/>
          <a:lstStyle>
            <a:lvl1pPr>
              <a:defRPr sz="1100">
                <a:solidFill>
                  <a:srgbClr val="6B6863"/>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600" b="1" dirty="0">
                <a:solidFill>
                  <a:srgbClr val="141312"/>
                </a:solidFill>
                <a:latin typeface="Arial" pitchFamily="34" charset="0"/>
                <a:ea typeface="Arial" pitchFamily="34" charset="-122"/>
                <a:cs typeface="Arial" pitchFamily="34" charset="-120"/>
              </a:rPr>
              <a:t>Follow Sweet Hand on Facebook</a:t>
            </a:r>
            <a:endParaRPr lang="en-US" sz="3600" dirty="0"/>
          </a:p>
        </p:txBody>
      </p:sp>
      <p:pic>
        <p:nvPicPr>
          <p:cNvPr id="3" name="Image 0" descr="QR code for the Sweet Hand Facebook Page">    </p:cNvPr>
          <p:cNvPicPr>
            <a:picLocks noChangeAspect="1"/>
          </p:cNvPicPr>
          <p:nvPr/>
        </p:nvPicPr>
        <p:blipFill>
          <a:blip r:embed="rId1"/>
          <a:stretch>
            <a:fillRect/>
          </a:stretch>
        </p:blipFill>
        <p:spPr>
          <a:xfrm>
            <a:off x="548640" y="1463040"/>
            <a:ext cx="2926080" cy="2926080"/>
          </a:xfrm>
          <a:prstGeom prst="rect">
            <a:avLst/>
          </a:prstGeom>
        </p:spPr>
      </p:pic>
      <p:sp>
        <p:nvSpPr>
          <p:cNvPr id="4" name="Text 1"/>
          <p:cNvSpPr txBox="1"/>
          <p:nvPr/>
        </p:nvSpPr>
        <p:spPr>
          <a:xfrm>
            <a:off x="548640" y="4526280"/>
            <a:ext cx="5486400" cy="411480"/>
          </a:xfrm>
          <a:prstGeom prst="rect">
            <a:avLst/>
          </a:prstGeom>
          <a:noFill/>
          <a:ln/>
        </p:spPr>
        <p:txBody>
          <a:bodyPr wrap="square" lIns="0" tIns="0" rIns="0" bIns="0" rtlCol="0" anchor="t"/>
          <a:lstStyle/>
          <a:p>
            <a:pPr indent="0" marL="0">
              <a:buNone/>
            </a:pPr>
            <a:r>
              <a:rPr lang="en-US" sz="1400" dirty="0">
                <a:solidFill>
                  <a:srgbClr val="6B6863"/>
                </a:solidFill>
                <a:latin typeface="Arial" pitchFamily="34" charset="0"/>
                <a:ea typeface="Arial" pitchFamily="34" charset="-122"/>
                <a:cs typeface="Arial" pitchFamily="34" charset="-120"/>
              </a:rPr>
              <a:t>facebook.com/profile.php?id=61595065212396</a:t>
            </a:r>
            <a:endParaRPr lang="en-US" sz="1400" dirty="0"/>
          </a:p>
        </p:txBody>
      </p:sp>
      <p:sp>
        <p:nvSpPr>
          <p:cNvPr id="5" name="Text 2"/>
          <p:cNvSpPr txBox="1"/>
          <p:nvPr/>
        </p:nvSpPr>
        <p:spPr>
          <a:xfrm>
            <a:off x="4206240" y="1463040"/>
            <a:ext cx="7315200" cy="457200"/>
          </a:xfrm>
          <a:prstGeom prst="rect">
            <a:avLst/>
          </a:prstGeom>
          <a:noFill/>
          <a:ln/>
        </p:spPr>
        <p:txBody>
          <a:bodyPr wrap="square" lIns="0" tIns="0" rIns="0" bIns="0" rtlCol="0" anchor="t"/>
          <a:lstStyle/>
          <a:p>
            <a:pPr indent="0" marL="0">
              <a:buNone/>
            </a:pPr>
            <a:r>
              <a:rPr lang="en-US" sz="2000" b="1" dirty="0">
                <a:solidFill>
                  <a:srgbClr val="141312"/>
                </a:solidFill>
                <a:latin typeface="Arial" pitchFamily="34" charset="0"/>
                <a:ea typeface="Arial" pitchFamily="34" charset="-122"/>
                <a:cs typeface="Arial" pitchFamily="34" charset="-120"/>
              </a:rPr>
              <a:t>Where you hear it first:</a:t>
            </a:r>
            <a:endParaRPr lang="en-US" sz="2000" dirty="0"/>
          </a:p>
        </p:txBody>
      </p:sp>
      <p:sp>
        <p:nvSpPr>
          <p:cNvPr id="6" name="Text 3"/>
          <p:cNvSpPr txBox="1"/>
          <p:nvPr/>
        </p:nvSpPr>
        <p:spPr>
          <a:xfrm>
            <a:off x="4206240" y="2103120"/>
            <a:ext cx="7315200" cy="502920"/>
          </a:xfrm>
          <a:prstGeom prst="rect">
            <a:avLst/>
          </a:prstGeom>
          <a:noFill/>
          <a:ln/>
        </p:spPr>
        <p:txBody>
          <a:bodyPr wrap="square" lIns="0" tIns="0" rIns="0" bIns="0" rtlCol="0" anchor="t"/>
          <a:lstStyle/>
          <a:p>
            <a:pPr indent="0" marL="0">
              <a:buNone/>
            </a:pPr>
            <a:r>
              <a:rPr lang="en-US" sz="2400" b="1" dirty="0">
                <a:solidFill>
                  <a:srgbClr val="B5381F"/>
                </a:solidFill>
                <a:latin typeface="Arial" pitchFamily="34" charset="0"/>
                <a:ea typeface="Arial" pitchFamily="34" charset="-122"/>
                <a:cs typeface="Arial" pitchFamily="34" charset="-120"/>
              </a:rPr>
              <a:t>The launch, first</a:t>
            </a:r>
            <a:endParaRPr lang="en-US" sz="2400" dirty="0"/>
          </a:p>
        </p:txBody>
      </p:sp>
      <p:sp>
        <p:nvSpPr>
          <p:cNvPr id="7" name="Text 4"/>
          <p:cNvSpPr txBox="1"/>
          <p:nvPr/>
        </p:nvSpPr>
        <p:spPr>
          <a:xfrm>
            <a:off x="4206240" y="2670048"/>
            <a:ext cx="7315200" cy="502920"/>
          </a:xfrm>
          <a:prstGeom prst="rect">
            <a:avLst/>
          </a:prstGeom>
          <a:noFill/>
          <a:ln/>
        </p:spPr>
        <p:txBody>
          <a:bodyPr wrap="square" lIns="0" tIns="0" rIns="0" bIns="0" rtlCol="0" anchor="t"/>
          <a:lstStyle/>
          <a:p>
            <a:pPr indent="0" marL="0">
              <a:buNone/>
            </a:pPr>
            <a:r>
              <a:rPr lang="en-US" sz="2400" dirty="0">
                <a:solidFill>
                  <a:srgbClr val="141312"/>
                </a:solidFill>
                <a:latin typeface="Arial" pitchFamily="34" charset="0"/>
                <a:ea typeface="Arial" pitchFamily="34" charset="-122"/>
                <a:cs typeface="Arial" pitchFamily="34" charset="-120"/>
              </a:rPr>
              <a:t>Photoshoot days</a:t>
            </a:r>
            <a:endParaRPr lang="en-US" sz="2400" dirty="0"/>
          </a:p>
        </p:txBody>
      </p:sp>
      <p:sp>
        <p:nvSpPr>
          <p:cNvPr id="8" name="Text 5"/>
          <p:cNvSpPr txBox="1"/>
          <p:nvPr/>
        </p:nvSpPr>
        <p:spPr>
          <a:xfrm>
            <a:off x="4206240" y="3236976"/>
            <a:ext cx="7315200" cy="502920"/>
          </a:xfrm>
          <a:prstGeom prst="rect">
            <a:avLst/>
          </a:prstGeom>
          <a:noFill/>
          <a:ln/>
        </p:spPr>
        <p:txBody>
          <a:bodyPr wrap="square" lIns="0" tIns="0" rIns="0" bIns="0" rtlCol="0" anchor="t"/>
          <a:lstStyle/>
          <a:p>
            <a:pPr indent="0" marL="0">
              <a:buNone/>
            </a:pPr>
            <a:r>
              <a:rPr lang="en-US" sz="2400" dirty="0">
                <a:solidFill>
                  <a:srgbClr val="141312"/>
                </a:solidFill>
                <a:latin typeface="Arial" pitchFamily="34" charset="0"/>
                <a:ea typeface="Arial" pitchFamily="34" charset="-122"/>
                <a:cs typeface="Arial" pitchFamily="34" charset="-120"/>
              </a:rPr>
              <a:t>The caterers who join</a:t>
            </a:r>
            <a:endParaRPr lang="en-US" sz="2400" dirty="0"/>
          </a:p>
        </p:txBody>
      </p:sp>
      <p:sp>
        <p:nvSpPr>
          <p:cNvPr id="9" name="Text 6"/>
          <p:cNvSpPr txBox="1"/>
          <p:nvPr/>
        </p:nvSpPr>
        <p:spPr>
          <a:xfrm>
            <a:off x="4206240" y="3803904"/>
            <a:ext cx="7315200" cy="502920"/>
          </a:xfrm>
          <a:prstGeom prst="rect">
            <a:avLst/>
          </a:prstGeom>
          <a:noFill/>
          <a:ln/>
        </p:spPr>
        <p:txBody>
          <a:bodyPr wrap="square" lIns="0" tIns="0" rIns="0" bIns="0" rtlCol="0" anchor="t"/>
          <a:lstStyle/>
          <a:p>
            <a:pPr indent="0" marL="0">
              <a:buNone/>
            </a:pPr>
            <a:r>
              <a:rPr lang="en-US" sz="2400" dirty="0">
                <a:solidFill>
                  <a:srgbClr val="141312"/>
                </a:solidFill>
                <a:latin typeface="Arial" pitchFamily="34" charset="0"/>
                <a:ea typeface="Arial" pitchFamily="34" charset="-122"/>
                <a:cs typeface="Arial" pitchFamily="34" charset="-120"/>
              </a:rPr>
              <a:t>The ideas we are exploring</a:t>
            </a:r>
            <a:endParaRPr lang="en-US" sz="2400" dirty="0"/>
          </a:p>
        </p:txBody>
      </p:sp>
      <p:sp>
        <p:nvSpPr>
          <p:cNvPr id="25" name="Slide Number Placeholder 0"/>
          <p:cNvSpPr>
            <a:spLocks noGrp="1"/>
          </p:cNvSpPr>
          <p:nvPr>
            <p:ph type="sldNum" sz="quarter" idx="4294967295"/>
          </p:nvPr>
        </p:nvSpPr>
        <p:spPr>
          <a:xfrm>
            <a:off x="11185855" y="6217920"/>
            <a:ext cx="457200" cy="365760"/>
          </a:xfrm>
          <a:prstGeom prst="rect">
            <a:avLst/>
          </a:prstGeom>
          <a:extLst>
            <a:ext uri="{C572A759-6A51-4108-AA02-DFA0A04FC94B}">
              <ma14:wrappingTextBoxFlag xmlns:ma14="http://schemas.microsoft.com/office/mac/drawingml/2011/main" val="0"/>
            </a:ext>
          </a:extLst>
        </p:spPr>
        <p:txBody>
          <a:bodyPr/>
          <a:lstStyle>
            <a:lvl1pPr>
              <a:defRPr sz="1100">
                <a:solidFill>
                  <a:srgbClr val="6B6863"/>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1554480"/>
            <a:ext cx="10972800" cy="1097280"/>
          </a:xfrm>
          <a:prstGeom prst="rect">
            <a:avLst/>
          </a:prstGeom>
          <a:noFill/>
          <a:ln/>
        </p:spPr>
        <p:txBody>
          <a:bodyPr wrap="square" lIns="0" tIns="0" rIns="0" bIns="0" rtlCol="0" anchor="t"/>
          <a:lstStyle/>
          <a:p>
            <a:pPr indent="0" marL="0">
              <a:buNone/>
            </a:pPr>
            <a:r>
              <a:rPr lang="en-US" sz="6000" b="1" dirty="0">
                <a:solidFill>
                  <a:srgbClr val="FFFFFF"/>
                </a:solidFill>
                <a:latin typeface="Arial" pitchFamily="34" charset="0"/>
                <a:ea typeface="Arial" pitchFamily="34" charset="-122"/>
                <a:cs typeface="Arial" pitchFamily="34" charset="-120"/>
              </a:rPr>
              <a:t>Questions?</a:t>
            </a:r>
            <a:endParaRPr lang="en-US" sz="6000" dirty="0"/>
          </a:p>
        </p:txBody>
      </p:sp>
      <p:sp>
        <p:nvSpPr>
          <p:cNvPr id="3" name="Shape 1"/>
          <p:cNvSpPr/>
          <p:nvPr/>
        </p:nvSpPr>
        <p:spPr>
          <a:xfrm>
            <a:off x="548640" y="3108960"/>
            <a:ext cx="731520" cy="731520"/>
          </a:xfrm>
          <a:prstGeom prst="ellipse">
            <a:avLst/>
          </a:prstGeom>
          <a:solidFill>
            <a:srgbClr val="B5381F"/>
          </a:solidFill>
          <a:ln w="12700">
            <a:solidFill>
              <a:srgbClr val="B5381F"/>
            </a:solidFill>
            <a:prstDash val="solid"/>
          </a:ln>
        </p:spPr>
      </p:sp>
      <p:sp>
        <p:nvSpPr>
          <p:cNvPr id="4" name="Text 2"/>
          <p:cNvSpPr txBox="1"/>
          <p:nvPr/>
        </p:nvSpPr>
        <p:spPr>
          <a:xfrm>
            <a:off x="548640" y="310896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5" name="Text 3"/>
          <p:cNvSpPr txBox="1"/>
          <p:nvPr/>
        </p:nvSpPr>
        <p:spPr>
          <a:xfrm>
            <a:off x="1554480" y="3090672"/>
            <a:ext cx="4572000" cy="45720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Sign up</a:t>
            </a:r>
            <a:endParaRPr lang="en-US" sz="2400" dirty="0"/>
          </a:p>
        </p:txBody>
      </p:sp>
      <p:sp>
        <p:nvSpPr>
          <p:cNvPr id="6" name="Text 4"/>
          <p:cNvSpPr txBox="1"/>
          <p:nvPr/>
        </p:nvSpPr>
        <p:spPr>
          <a:xfrm>
            <a:off x="1554480" y="3520440"/>
            <a:ext cx="7315200" cy="411480"/>
          </a:xfrm>
          <a:prstGeom prst="rect">
            <a:avLst/>
          </a:prstGeom>
          <a:noFill/>
          <a:ln/>
        </p:spPr>
        <p:txBody>
          <a:bodyPr wrap="square" lIns="0" tIns="0" rIns="0" bIns="0" rtlCol="0" anchor="t"/>
          <a:lstStyle/>
          <a:p>
            <a:pPr indent="0" marL="0">
              <a:buNone/>
            </a:pPr>
            <a:r>
              <a:rPr lang="en-US" sz="1800" dirty="0">
                <a:solidFill>
                  <a:srgbClr val="B8B2A8"/>
                </a:solidFill>
                <a:latin typeface="Arial" pitchFamily="34" charset="0"/>
                <a:ea typeface="Arial" pitchFamily="34" charset="-122"/>
                <a:cs typeface="Arial" pitchFamily="34" charset="-120"/>
              </a:rPr>
              <a:t>sweethand.ca → Join as a caterer</a:t>
            </a:r>
            <a:endParaRPr lang="en-US" sz="1800" dirty="0"/>
          </a:p>
        </p:txBody>
      </p:sp>
      <p:sp>
        <p:nvSpPr>
          <p:cNvPr id="7" name="Shape 5"/>
          <p:cNvSpPr/>
          <p:nvPr/>
        </p:nvSpPr>
        <p:spPr>
          <a:xfrm>
            <a:off x="548640" y="4251960"/>
            <a:ext cx="731520" cy="731520"/>
          </a:xfrm>
          <a:prstGeom prst="ellipse">
            <a:avLst/>
          </a:prstGeom>
          <a:solidFill>
            <a:srgbClr val="B5381F"/>
          </a:solidFill>
          <a:ln w="12700">
            <a:solidFill>
              <a:srgbClr val="B5381F"/>
            </a:solidFill>
            <a:prstDash val="solid"/>
          </a:ln>
        </p:spPr>
      </p:sp>
      <p:sp>
        <p:nvSpPr>
          <p:cNvPr id="8" name="Text 6"/>
          <p:cNvSpPr txBox="1"/>
          <p:nvPr/>
        </p:nvSpPr>
        <p:spPr>
          <a:xfrm>
            <a:off x="548640" y="425196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9" name="Text 7"/>
          <p:cNvSpPr txBox="1"/>
          <p:nvPr/>
        </p:nvSpPr>
        <p:spPr>
          <a:xfrm>
            <a:off x="1554480" y="4233672"/>
            <a:ext cx="4572000" cy="45720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Follow us</a:t>
            </a:r>
            <a:endParaRPr lang="en-US" sz="2400" dirty="0"/>
          </a:p>
        </p:txBody>
      </p:sp>
      <p:sp>
        <p:nvSpPr>
          <p:cNvPr id="10" name="Text 8"/>
          <p:cNvSpPr txBox="1"/>
          <p:nvPr/>
        </p:nvSpPr>
        <p:spPr>
          <a:xfrm>
            <a:off x="1554480" y="4663440"/>
            <a:ext cx="7315200" cy="411480"/>
          </a:xfrm>
          <a:prstGeom prst="rect">
            <a:avLst/>
          </a:prstGeom>
          <a:noFill/>
          <a:ln/>
        </p:spPr>
        <p:txBody>
          <a:bodyPr wrap="square" lIns="0" tIns="0" rIns="0" bIns="0" rtlCol="0" anchor="t"/>
          <a:lstStyle/>
          <a:p>
            <a:pPr indent="0" marL="0">
              <a:buNone/>
            </a:pPr>
            <a:r>
              <a:rPr lang="en-US" sz="1800" dirty="0">
                <a:solidFill>
                  <a:srgbClr val="B8B2A8"/>
                </a:solidFill>
                <a:latin typeface="Arial" pitchFamily="34" charset="0"/>
                <a:ea typeface="Arial" pitchFamily="34" charset="-122"/>
                <a:cs typeface="Arial" pitchFamily="34" charset="-120"/>
              </a:rPr>
              <a:t>Sweet Hand on Facebook</a:t>
            </a:r>
            <a:endParaRPr lang="en-US" sz="1800" dirty="0"/>
          </a:p>
        </p:txBody>
      </p:sp>
      <p:sp>
        <p:nvSpPr>
          <p:cNvPr id="11" name="Text 9"/>
          <p:cNvSpPr txBox="1"/>
          <p:nvPr/>
        </p:nvSpPr>
        <p:spPr>
          <a:xfrm>
            <a:off x="548640" y="5715000"/>
            <a:ext cx="10972800" cy="457200"/>
          </a:xfrm>
          <a:prstGeom prst="rect">
            <a:avLst/>
          </a:prstGeom>
          <a:noFill/>
          <a:ln/>
        </p:spPr>
        <p:txBody>
          <a:bodyPr wrap="square" lIns="0" tIns="0" rIns="0" bIns="0" rtlCol="0" anchor="t"/>
          <a:lstStyle/>
          <a:p>
            <a:pPr indent="0" marL="0">
              <a:buNone/>
            </a:pPr>
            <a:r>
              <a:rPr lang="en-US" sz="1600" dirty="0">
                <a:solidFill>
                  <a:srgbClr val="E2DED7"/>
                </a:solidFill>
                <a:latin typeface="Arial" pitchFamily="34" charset="0"/>
                <a:ea typeface="Arial" pitchFamily="34" charset="-122"/>
                <a:cs typeface="Arial" pitchFamily="34" charset="-120"/>
              </a:rPr>
              <a:t>Free to list. You set the menu, the batches and the days. Your home address stays private.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Sweet Hand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Sweet Hand: a pitch for caterers</dc:title>
  <dc:subject>PptxGenJS Presentation</dc:subject>
  <dc:creator>Sweet Hand</dc:creator>
  <cp:lastModifiedBy>Sweet Hand</cp:lastModifiedBy>
  <cp:revision>1</cp:revision>
  <dcterms:created xsi:type="dcterms:W3CDTF">2026-10-24T16:39:24Z</dcterms:created>
  <dcterms:modified xsi:type="dcterms:W3CDTF">2026-10-24T16:39:24Z</dcterms:modified>
</cp:coreProperties>
</file>